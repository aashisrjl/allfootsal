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12192000"/>
  <p:notesSz cx="6858000" cy="9144000"/>
  <p:embeddedFontLst>
    <p:embeddedFont>
      <p:font typeface="Play"/>
      <p:regular r:id="rId25"/>
      <p:bold r:id="rId26"/>
    </p:embeddedFont>
    <p:embeddedFont>
      <p:font typeface="Teko"/>
      <p:regular r:id="rId27"/>
      <p:bold r:id="rId28"/>
    </p:embeddedFont>
    <p:embeddedFont>
      <p:font typeface="Arial Narrow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3" roundtripDataSignature="AMtx7mh3zR/Wf9k3mYCkYndijfuTK6g0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10D1F1F-9B31-43DD-9872-F19BADE30760}">
  <a:tblStyle styleId="{610D1F1F-9B31-43DD-9872-F19BADE30760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lay-bold.fntdata"/><Relationship Id="rId25" Type="http://schemas.openxmlformats.org/officeDocument/2006/relationships/font" Target="fonts/Play-regular.fntdata"/><Relationship Id="rId28" Type="http://schemas.openxmlformats.org/officeDocument/2006/relationships/font" Target="fonts/Teko-bold.fntdata"/><Relationship Id="rId27" Type="http://schemas.openxmlformats.org/officeDocument/2006/relationships/font" Target="fonts/Tek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alNarrow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alNarrow-italic.fntdata"/><Relationship Id="rId30" Type="http://schemas.openxmlformats.org/officeDocument/2006/relationships/font" Target="fonts/ArialNarrow-bold.fntdata"/><Relationship Id="rId11" Type="http://schemas.openxmlformats.org/officeDocument/2006/relationships/slide" Target="slides/slide6.xml"/><Relationship Id="rId33" Type="http://customschemas.google.com/relationships/presentationmetadata" Target="metadata"/><Relationship Id="rId10" Type="http://schemas.openxmlformats.org/officeDocument/2006/relationships/slide" Target="slides/slide5.xml"/><Relationship Id="rId32" Type="http://schemas.openxmlformats.org/officeDocument/2006/relationships/font" Target="fonts/ArialNarrow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98eb71f1e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98eb71f1e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f98eb71f1e_0_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98eb71f1e_0_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f98eb71f1e_0_4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f98eb71f1e_0_4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98eb71f1e_0_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98eb71f1e_0_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98eb71f1e_0_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idx="1" type="body"/>
          </p:nvPr>
        </p:nvSpPr>
        <p:spPr>
          <a:xfrm>
            <a:off x="4676467" y="3447288"/>
            <a:ext cx="2839065" cy="20125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>
                <a:latin typeface="Teko"/>
                <a:ea typeface="Teko"/>
                <a:cs typeface="Teko"/>
                <a:sym typeface="Teko"/>
              </a:rPr>
              <a:t>Presented by: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eko"/>
                <a:ea typeface="Teko"/>
                <a:cs typeface="Teko"/>
                <a:sym typeface="Teko"/>
              </a:rPr>
              <a:t>Aashish Rijal </a:t>
            </a:r>
            <a:r>
              <a:rPr lang="en-US" sz="2200">
                <a:latin typeface="Teko"/>
                <a:ea typeface="Teko"/>
                <a:cs typeface="Teko"/>
                <a:sym typeface="Teko"/>
              </a:rPr>
              <a:t>(79010939)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eko"/>
                <a:ea typeface="Teko"/>
                <a:cs typeface="Teko"/>
                <a:sym typeface="Teko"/>
              </a:rPr>
              <a:t>Dipesh Devkota </a:t>
            </a:r>
            <a:r>
              <a:rPr lang="en-US" sz="2200">
                <a:latin typeface="Teko"/>
                <a:ea typeface="Teko"/>
                <a:cs typeface="Teko"/>
                <a:sym typeface="Teko"/>
              </a:rPr>
              <a:t>(79010952)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>
                <a:latin typeface="Teko"/>
                <a:ea typeface="Teko"/>
                <a:cs typeface="Teko"/>
                <a:sym typeface="Teko"/>
              </a:rPr>
              <a:t>Kedar Dhunagana </a:t>
            </a:r>
            <a:r>
              <a:rPr lang="en-US" sz="2200">
                <a:latin typeface="Teko"/>
                <a:ea typeface="Teko"/>
                <a:cs typeface="Teko"/>
                <a:sym typeface="Teko"/>
              </a:rPr>
              <a:t>(79010957)</a:t>
            </a:r>
            <a:endParaRPr/>
          </a:p>
        </p:txBody>
      </p:sp>
      <p:sp>
        <p:nvSpPr>
          <p:cNvPr id="89" name="Google Shape;89;p1"/>
          <p:cNvSpPr txBox="1"/>
          <p:nvPr>
            <p:ph type="title"/>
          </p:nvPr>
        </p:nvSpPr>
        <p:spPr>
          <a:xfrm>
            <a:off x="2930377" y="846149"/>
            <a:ext cx="6331244" cy="20125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eko"/>
              <a:buNone/>
            </a:pPr>
            <a:r>
              <a:rPr b="1" lang="en-US" sz="5400">
                <a:latin typeface="Teko"/>
                <a:ea typeface="Teko"/>
                <a:cs typeface="Teko"/>
                <a:sym typeface="Teko"/>
              </a:rPr>
              <a:t> </a:t>
            </a:r>
            <a:r>
              <a:rPr lang="en-US" sz="5400">
                <a:latin typeface="Teko"/>
                <a:ea typeface="Teko"/>
                <a:cs typeface="Teko"/>
                <a:sym typeface="Teko"/>
              </a:rPr>
              <a:t>Futsal </a:t>
            </a:r>
            <a:endParaRPr sz="54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eko"/>
              <a:buNone/>
            </a:pPr>
            <a:r>
              <a:rPr lang="en-US" sz="5400">
                <a:latin typeface="Teko"/>
                <a:ea typeface="Teko"/>
                <a:cs typeface="Teko"/>
                <a:sym typeface="Teko"/>
              </a:rPr>
              <a:t>Booking and Management</a:t>
            </a:r>
            <a:endParaRPr sz="5400">
              <a:latin typeface="Teko"/>
              <a:ea typeface="Teko"/>
              <a:cs typeface="Teko"/>
              <a:sym typeface="Teko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eko"/>
              <a:buNone/>
            </a:pPr>
            <a:r>
              <a:rPr lang="en-US" sz="5400">
                <a:latin typeface="Teko"/>
                <a:ea typeface="Teko"/>
                <a:cs typeface="Teko"/>
                <a:sym typeface="Teko"/>
              </a:rPr>
              <a:t> System</a:t>
            </a:r>
            <a:br>
              <a:rPr lang="en-US" sz="3100">
                <a:latin typeface="Arial Narrow"/>
                <a:ea typeface="Arial Narrow"/>
                <a:cs typeface="Arial Narrow"/>
                <a:sym typeface="Arial Narrow"/>
              </a:rPr>
            </a:br>
            <a:endParaRPr sz="310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n and a book&#10;&#10;AI-generated content may be incorrect."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48102" y="238135"/>
            <a:ext cx="948690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0" y="0"/>
            <a:ext cx="12196802" cy="6858000"/>
          </a:xfrm>
          <a:prstGeom prst="rect">
            <a:avLst/>
          </a:prstGeom>
          <a:gradFill>
            <a:gsLst>
              <a:gs pos="0">
                <a:srgbClr val="E8E8E8">
                  <a:alpha val="83922"/>
                </a:srgbClr>
              </a:gs>
              <a:gs pos="28000">
                <a:srgbClr val="E8E8E8">
                  <a:alpha val="83922"/>
                </a:srgbClr>
              </a:gs>
              <a:gs pos="74000">
                <a:schemeClr val="lt1"/>
              </a:gs>
              <a:gs pos="100000">
                <a:schemeClr val="lt1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eko"/>
              <a:buNone/>
            </a:pPr>
            <a:r>
              <a:rPr b="1" lang="en-US">
                <a:latin typeface="Teko"/>
                <a:ea typeface="Teko"/>
                <a:cs typeface="Teko"/>
                <a:sym typeface="Teko"/>
              </a:rPr>
              <a:t>Outline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1035750" y="1690703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Introduction</a:t>
            </a:r>
            <a:endParaRPr sz="10108"/>
          </a:p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Problem Statement</a:t>
            </a:r>
            <a:endParaRPr sz="10108"/>
          </a:p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Objectives</a:t>
            </a:r>
            <a:endParaRPr sz="10108"/>
          </a:p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Scope and Limitations </a:t>
            </a:r>
            <a:endParaRPr sz="10108"/>
          </a:p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Development Methodology</a:t>
            </a:r>
            <a:endParaRPr sz="10108"/>
          </a:p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Requirement Analysis</a:t>
            </a:r>
            <a:endParaRPr sz="10108"/>
          </a:p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System Architecture</a:t>
            </a:r>
            <a:endParaRPr sz="10108"/>
          </a:p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Algorithm Details</a:t>
            </a:r>
            <a:endParaRPr sz="10108"/>
          </a:p>
          <a:p>
            <a:pPr indent="-38906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-US" sz="10108"/>
              <a:t>Conclusion</a:t>
            </a:r>
            <a:endParaRPr sz="10108"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98" name="Google Shape;98;p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 txBox="1"/>
          <p:nvPr>
            <p:ph type="title"/>
          </p:nvPr>
        </p:nvSpPr>
        <p:spPr>
          <a:xfrm>
            <a:off x="635000" y="640825"/>
            <a:ext cx="3565800" cy="55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eko"/>
              <a:buNone/>
            </a:pPr>
            <a:r>
              <a:rPr b="1" lang="en-US" sz="5400">
                <a:latin typeface="Teko"/>
                <a:ea typeface="Teko"/>
                <a:cs typeface="Teko"/>
                <a:sym typeface="Teko"/>
              </a:rPr>
              <a:t>Introduction</a:t>
            </a:r>
            <a:endParaRPr/>
          </a:p>
        </p:txBody>
      </p:sp>
      <p:sp>
        <p:nvSpPr>
          <p:cNvPr id="105" name="Google Shape;105;p3"/>
          <p:cNvSpPr/>
          <p:nvPr/>
        </p:nvSpPr>
        <p:spPr>
          <a:xfrm rot="5400000">
            <a:off x="1627450" y="3462719"/>
            <a:ext cx="5410200" cy="18288"/>
          </a:xfrm>
          <a:custGeom>
            <a:rect b="b" l="l" r="r" t="t"/>
            <a:pathLst>
              <a:path extrusionOk="0" fill="none" h="18288" w="541020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extrusionOk="0" h="18288" w="541020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6" name="Google Shape;106;p3"/>
          <p:cNvGrpSpPr/>
          <p:nvPr/>
        </p:nvGrpSpPr>
        <p:grpSpPr>
          <a:xfrm>
            <a:off x="4611441" y="1424933"/>
            <a:ext cx="6900609" cy="4590767"/>
            <a:chOff x="0" y="1715"/>
            <a:chExt cx="6900609" cy="4590767"/>
          </a:xfrm>
        </p:grpSpPr>
        <p:cxnSp>
          <p:nvCxnSpPr>
            <p:cNvPr id="107" name="Google Shape;107;p3"/>
            <p:cNvCxnSpPr/>
            <p:nvPr/>
          </p:nvCxnSpPr>
          <p:spPr>
            <a:xfrm>
              <a:off x="0" y="1715"/>
              <a:ext cx="6900512" cy="0"/>
            </a:xfrm>
            <a:prstGeom prst="straightConnector1">
              <a:avLst/>
            </a:prstGeom>
            <a:gradFill>
              <a:gsLst>
                <a:gs pos="0">
                  <a:srgbClr val="484D5D"/>
                </a:gs>
                <a:gs pos="50000">
                  <a:srgbClr val="0B2343"/>
                </a:gs>
                <a:gs pos="100000">
                  <a:srgbClr val="061F3D"/>
                </a:gs>
              </a:gsLst>
              <a:lin ang="5400000" scaled="0"/>
            </a:gradFill>
            <a:ln>
              <a:noFill/>
            </a:ln>
          </p:spPr>
        </p:cxnSp>
        <p:sp>
          <p:nvSpPr>
            <p:cNvPr id="108" name="Google Shape;108;p3"/>
            <p:cNvSpPr/>
            <p:nvPr/>
          </p:nvSpPr>
          <p:spPr>
            <a:xfrm>
              <a:off x="0" y="1715"/>
              <a:ext cx="6900512" cy="1002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3"/>
            <p:cNvSpPr txBox="1"/>
            <p:nvPr/>
          </p:nvSpPr>
          <p:spPr>
            <a:xfrm>
              <a:off x="0" y="1715"/>
              <a:ext cx="6900512" cy="1002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</a:rPr>
                <a:t>Our System is a web-based multi-tenant SaaS platform.</a:t>
              </a:r>
              <a:endParaRPr/>
            </a:p>
          </p:txBody>
        </p:sp>
        <p:cxnSp>
          <p:nvCxnSpPr>
            <p:cNvPr id="110" name="Google Shape;110;p3"/>
            <p:cNvCxnSpPr/>
            <p:nvPr/>
          </p:nvCxnSpPr>
          <p:spPr>
            <a:xfrm>
              <a:off x="0" y="1004279"/>
              <a:ext cx="6900512" cy="0"/>
            </a:xfrm>
            <a:prstGeom prst="straightConnector1">
              <a:avLst/>
            </a:prstGeom>
            <a:gradFill>
              <a:gsLst>
                <a:gs pos="0">
                  <a:srgbClr val="484D5D"/>
                </a:gs>
                <a:gs pos="50000">
                  <a:srgbClr val="0B2343"/>
                </a:gs>
                <a:gs pos="100000">
                  <a:srgbClr val="061F3D"/>
                </a:gs>
              </a:gsLst>
              <a:lin ang="5400000" scaled="0"/>
            </a:gradFill>
            <a:ln>
              <a:noFill/>
            </a:ln>
          </p:spPr>
        </p:cxnSp>
        <p:sp>
          <p:nvSpPr>
            <p:cNvPr id="111" name="Google Shape;111;p3"/>
            <p:cNvSpPr/>
            <p:nvPr/>
          </p:nvSpPr>
          <p:spPr>
            <a:xfrm>
              <a:off x="0" y="1004279"/>
              <a:ext cx="6900512" cy="190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3"/>
            <p:cNvSpPr txBox="1"/>
            <p:nvPr/>
          </p:nvSpPr>
          <p:spPr>
            <a:xfrm>
              <a:off x="0" y="1004279"/>
              <a:ext cx="6900512" cy="19087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</a:rPr>
                <a:t>System enables users to search and book futsal courts online and forum</a:t>
              </a:r>
              <a:endParaRPr/>
            </a:p>
            <a:p>
              <a:pPr indent="0" lvl="0" marL="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</a:rPr>
                <a:t>Allowing owners to manage bookings, schedules, pricing, and reviews through a centralized dashboard.</a:t>
              </a:r>
              <a:endParaRPr sz="22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77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84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" name="Google Shape;113;p3"/>
            <p:cNvCxnSpPr/>
            <p:nvPr/>
          </p:nvCxnSpPr>
          <p:spPr>
            <a:xfrm>
              <a:off x="0" y="2913024"/>
              <a:ext cx="6900512" cy="0"/>
            </a:xfrm>
            <a:prstGeom prst="straightConnector1">
              <a:avLst/>
            </a:prstGeom>
            <a:gradFill>
              <a:gsLst>
                <a:gs pos="0">
                  <a:srgbClr val="484D5D"/>
                </a:gs>
                <a:gs pos="50000">
                  <a:srgbClr val="0B2343"/>
                </a:gs>
                <a:gs pos="100000">
                  <a:srgbClr val="061F3D"/>
                </a:gs>
              </a:gsLst>
              <a:lin ang="5400000" scaled="0"/>
            </a:gradFill>
            <a:ln>
              <a:noFill/>
            </a:ln>
          </p:spPr>
        </p:cxnSp>
        <p:sp>
          <p:nvSpPr>
            <p:cNvPr id="114" name="Google Shape;114;p3"/>
            <p:cNvSpPr/>
            <p:nvPr/>
          </p:nvSpPr>
          <p:spPr>
            <a:xfrm>
              <a:off x="0" y="2913024"/>
              <a:ext cx="6900512" cy="16793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3"/>
            <p:cNvSpPr txBox="1"/>
            <p:nvPr/>
          </p:nvSpPr>
          <p:spPr>
            <a:xfrm>
              <a:off x="9" y="3134782"/>
              <a:ext cx="6900600" cy="14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3800" lIns="83800" spcFirstLastPara="1" rIns="83800" wrap="square" tIns="838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chemeClr val="dk1"/>
                  </a:solidFill>
                </a:rPr>
                <a:t>The logistic regression algorithm</a:t>
              </a:r>
              <a:r>
                <a:rPr b="0" i="0" lang="en-US" sz="2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is used for </a:t>
              </a:r>
              <a:r>
                <a:rPr lang="en-US" sz="2200">
                  <a:solidFill>
                    <a:schemeClr val="dk1"/>
                  </a:solidFill>
                </a:rPr>
                <a:t>sentiment analysis of user reviews.</a:t>
              </a:r>
              <a:endParaRPr sz="22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dk1"/>
                </a:solidFill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200">
                <a:solidFill>
                  <a:schemeClr val="dk1"/>
                </a:solidFill>
              </a:endParaRPr>
            </a:p>
          </p:txBody>
        </p:sp>
      </p:grp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ow to Write a Problem Statement: Templates, Examples, &amp; More" id="122" name="Google Shape;122;p4"/>
          <p:cNvPicPr preferRelativeResize="0"/>
          <p:nvPr/>
        </p:nvPicPr>
        <p:blipFill rotWithShape="1">
          <a:blip r:embed="rId3">
            <a:alphaModFix/>
          </a:blip>
          <a:srcRect b="1" l="15406" r="15054" t="0"/>
          <a:stretch/>
        </p:blipFill>
        <p:spPr>
          <a:xfrm>
            <a:off x="4980562" y="10"/>
            <a:ext cx="7211438" cy="6857990"/>
          </a:xfrm>
          <a:custGeom>
            <a:rect b="b" l="l" r="r" t="t"/>
            <a:pathLst>
              <a:path extrusionOk="0" h="6858000" w="7308978">
                <a:moveTo>
                  <a:pt x="0" y="0"/>
                </a:moveTo>
                <a:lnTo>
                  <a:pt x="7308978" y="0"/>
                </a:lnTo>
                <a:lnTo>
                  <a:pt x="7308978" y="6858000"/>
                </a:lnTo>
                <a:lnTo>
                  <a:pt x="0" y="6858000"/>
                </a:lnTo>
                <a:lnTo>
                  <a:pt x="62983" y="6788730"/>
                </a:lnTo>
                <a:cubicBezTo>
                  <a:pt x="773509" y="5928900"/>
                  <a:pt x="1212978" y="4741056"/>
                  <a:pt x="1212978" y="3429000"/>
                </a:cubicBezTo>
                <a:cubicBezTo>
                  <a:pt x="1212978" y="2116944"/>
                  <a:pt x="773509" y="929100"/>
                  <a:pt x="62983" y="69271"/>
                </a:cubicBezTo>
                <a:close/>
              </a:path>
            </a:pathLst>
          </a:custGeom>
          <a:noFill/>
          <a:ln>
            <a:noFill/>
          </a:ln>
        </p:spPr>
      </p:pic>
      <p:sp>
        <p:nvSpPr>
          <p:cNvPr id="123" name="Google Shape;123;p4"/>
          <p:cNvSpPr/>
          <p:nvPr/>
        </p:nvSpPr>
        <p:spPr>
          <a:xfrm>
            <a:off x="0" y="0"/>
            <a:ext cx="6096001" cy="6858000"/>
          </a:xfrm>
          <a:custGeom>
            <a:rect b="b" l="l" r="r" t="t"/>
            <a:pathLst>
              <a:path extrusionOk="0" h="6858000" w="6096001">
                <a:moveTo>
                  <a:pt x="0" y="0"/>
                </a:moveTo>
                <a:lnTo>
                  <a:pt x="4883023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FEFEF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0" y="-14007"/>
            <a:ext cx="6086857" cy="6858000"/>
          </a:xfrm>
          <a:custGeom>
            <a:rect b="b" l="l" r="r" t="t"/>
            <a:pathLst>
              <a:path extrusionOk="0" h="6858000" w="6086857">
                <a:moveTo>
                  <a:pt x="0" y="0"/>
                </a:moveTo>
                <a:lnTo>
                  <a:pt x="4873879" y="0"/>
                </a:lnTo>
                <a:lnTo>
                  <a:pt x="4936862" y="69271"/>
                </a:lnTo>
                <a:cubicBezTo>
                  <a:pt x="5647388" y="929100"/>
                  <a:pt x="6086857" y="2116944"/>
                  <a:pt x="6086857" y="3429000"/>
                </a:cubicBezTo>
                <a:cubicBezTo>
                  <a:pt x="6086857" y="4741056"/>
                  <a:pt x="5647388" y="5928900"/>
                  <a:pt x="4936862" y="6788730"/>
                </a:cubicBezTo>
                <a:lnTo>
                  <a:pt x="487387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>
            <p:ph type="title"/>
          </p:nvPr>
        </p:nvSpPr>
        <p:spPr>
          <a:xfrm>
            <a:off x="374904" y="856488"/>
            <a:ext cx="4992624" cy="12435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eko"/>
              <a:buNone/>
            </a:pPr>
            <a:r>
              <a:rPr b="1" lang="en-US" sz="3400">
                <a:latin typeface="Teko"/>
                <a:ea typeface="Teko"/>
                <a:cs typeface="Teko"/>
                <a:sym typeface="Teko"/>
              </a:rPr>
              <a:t>Problem Statement</a:t>
            </a:r>
            <a:br>
              <a:rPr lang="en-US" sz="3400"/>
            </a:br>
            <a:endParaRPr sz="3400"/>
          </a:p>
        </p:txBody>
      </p:sp>
      <p:sp>
        <p:nvSpPr>
          <p:cNvPr id="126" name="Google Shape;126;p4"/>
          <p:cNvSpPr/>
          <p:nvPr/>
        </p:nvSpPr>
        <p:spPr>
          <a:xfrm>
            <a:off x="0" y="1124325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37769" y="2195336"/>
            <a:ext cx="498348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>
            <p:ph idx="1" type="body"/>
          </p:nvPr>
        </p:nvSpPr>
        <p:spPr>
          <a:xfrm>
            <a:off x="374904" y="2522949"/>
            <a:ext cx="5065776" cy="34023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Manual bookings such as phone calls, handwritten records cause double booking.</a:t>
            </a:r>
            <a:endParaRPr sz="2000"/>
          </a:p>
          <a:p>
            <a:pPr indent="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Users struggle to find and compare futsal centers.</a:t>
            </a:r>
            <a:endParaRPr sz="2000"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41300" lvl="0" marL="228600" rtl="0" algn="l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Difficulty managing bookings, schedules, and revenue for futsal owners.</a:t>
            </a:r>
            <a:endParaRPr sz="2000"/>
          </a:p>
          <a:p>
            <a:pPr indent="0" lvl="0" marL="2286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Lack of proper analytics is leading to poor business decisions.</a:t>
            </a:r>
            <a:endParaRPr sz="2000"/>
          </a:p>
        </p:txBody>
      </p:sp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/>
          <p:nvPr/>
        </p:nvSpPr>
        <p:spPr>
          <a:xfrm>
            <a:off x="0" y="0"/>
            <a:ext cx="1219200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-1" y="0"/>
            <a:ext cx="4818889" cy="6858000"/>
          </a:xfrm>
          <a:custGeom>
            <a:rect b="b" l="l" r="r" t="t"/>
            <a:pathLst>
              <a:path extrusionOk="0" h="6858000" w="4818889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l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1" y="0"/>
            <a:ext cx="4811477" cy="6858000"/>
          </a:xfrm>
          <a:custGeom>
            <a:rect b="b" l="l" r="r" t="t"/>
            <a:pathLst>
              <a:path extrusionOk="0" h="6858000" w="4811477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 txBox="1"/>
          <p:nvPr>
            <p:ph type="title"/>
          </p:nvPr>
        </p:nvSpPr>
        <p:spPr>
          <a:xfrm>
            <a:off x="990163" y="1844856"/>
            <a:ext cx="3602736" cy="3803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eko"/>
              <a:buNone/>
            </a:pPr>
            <a:r>
              <a:rPr b="1" lang="en-US" sz="4000">
                <a:latin typeface="Teko"/>
                <a:ea typeface="Teko"/>
                <a:cs typeface="Teko"/>
                <a:sym typeface="Teko"/>
              </a:rPr>
              <a:t>Objectives</a:t>
            </a:r>
            <a:br>
              <a:rPr lang="en-US" sz="4000"/>
            </a:br>
            <a:endParaRPr sz="4000"/>
          </a:p>
        </p:txBody>
      </p:sp>
      <p:sp>
        <p:nvSpPr>
          <p:cNvPr id="138" name="Google Shape;138;p5"/>
          <p:cNvSpPr/>
          <p:nvPr/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 txBox="1"/>
          <p:nvPr>
            <p:ph idx="1" type="body"/>
          </p:nvPr>
        </p:nvSpPr>
        <p:spPr>
          <a:xfrm>
            <a:off x="5673625" y="2131668"/>
            <a:ext cx="5916603" cy="25946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To provide a centralized platform for futsal discovery and online court booking.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To simplify booking, scheduling and revenue management for futsal owners.</a:t>
            </a:r>
            <a:endParaRPr sz="2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To provide booking analytics for better decision-making.</a:t>
            </a:r>
            <a:endParaRPr sz="2000"/>
          </a:p>
        </p:txBody>
      </p:sp>
      <p:sp>
        <p:nvSpPr>
          <p:cNvPr id="140" name="Google Shape;140;p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/>
          <p:nvPr/>
        </p:nvSpPr>
        <p:spPr>
          <a:xfrm>
            <a:off x="0" y="-1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6"/>
          <p:cNvSpPr txBox="1"/>
          <p:nvPr>
            <p:ph type="title"/>
          </p:nvPr>
        </p:nvSpPr>
        <p:spPr>
          <a:xfrm>
            <a:off x="838200" y="365125"/>
            <a:ext cx="10515600" cy="18284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lay"/>
              <a:buNone/>
            </a:pPr>
            <a:r>
              <a:rPr lang="en-US" sz="5200"/>
              <a:t>Scope                       Limitations</a:t>
            </a:r>
            <a:endParaRPr sz="52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47" name="Google Shape;147;p6"/>
          <p:cNvSpPr txBox="1"/>
          <p:nvPr>
            <p:ph idx="1" type="body"/>
          </p:nvPr>
        </p:nvSpPr>
        <p:spPr>
          <a:xfrm>
            <a:off x="739404" y="1966007"/>
            <a:ext cx="5158427" cy="3730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101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Search futsal centers by location, availability, and pricing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Owner dashboard for courts, time slots, pricing, and customers.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Community features: ratings, reviews, and discussion forums.</a:t>
            </a:r>
            <a:endParaRPr sz="2000"/>
          </a:p>
          <a:p>
            <a:pPr indent="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228600" lvl="0" marL="228600" rtl="0" algn="l"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rPr lang="en-US" sz="2000"/>
              <a:t>Location-based recommendation engine for nearby futsals.</a:t>
            </a:r>
            <a:endParaRPr/>
          </a:p>
        </p:txBody>
      </p:sp>
      <p:sp>
        <p:nvSpPr>
          <p:cNvPr id="148" name="Google Shape;148;p6"/>
          <p:cNvSpPr txBox="1"/>
          <p:nvPr/>
        </p:nvSpPr>
        <p:spPr>
          <a:xfrm>
            <a:off x="6189155" y="2310136"/>
            <a:ext cx="5164645" cy="3730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Dependent on stable internet connectivity to function properly.</a:t>
            </a:r>
            <a:endParaRPr/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</a:rPr>
              <a:t>Mobile app support is limited in this initial phase (web-first).</a:t>
            </a:r>
            <a:endParaRPr sz="2000">
              <a:solidFill>
                <a:schemeClr val="dk1"/>
              </a:solidFill>
            </a:endParaRPr>
          </a:p>
          <a:p>
            <a:pPr indent="0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228600" lvl="0" marL="28575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Requires basic user training for owner and admin dashboards.</a:t>
            </a:r>
            <a:endParaRPr sz="2000">
              <a:solidFill>
                <a:schemeClr val="dk1"/>
              </a:solidFill>
            </a:endParaRPr>
          </a:p>
          <a:p>
            <a:pPr indent="12700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98eb71f1e_0_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Literature Review</a:t>
            </a:r>
            <a:endParaRPr/>
          </a:p>
        </p:txBody>
      </p:sp>
      <p:sp>
        <p:nvSpPr>
          <p:cNvPr id="156" name="Google Shape;156;g3f98eb71f1e_0_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Suhaimi &amp; Sahid (2021) – Digital Shift Recommends replacing manual booking records with digital systems.</a:t>
            </a:r>
            <a:endParaRPr sz="23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Fauzi et al. (2022) – Operational Efficiency Web-based systems improve accessibility and reduce manual errors.</a:t>
            </a:r>
            <a:endParaRPr sz="23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Modern System Design – SaaS Architecture Multi-tenant SaaS ensures scalability and secure data isolation.</a:t>
            </a:r>
            <a:endParaRPr sz="23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-374650" lvl="0" marL="457200" rtl="0" algn="l">
              <a:spcBef>
                <a:spcPts val="1000"/>
              </a:spcBef>
              <a:spcAft>
                <a:spcPts val="0"/>
              </a:spcAft>
              <a:buSzPts val="2300"/>
              <a:buChar char="●"/>
            </a:pPr>
            <a:r>
              <a:rPr lang="en-US" sz="2300"/>
              <a:t>Machine Learning Trends – AI &amp; Analytics Logistic Regression and TF-IDF improve sentiment analysis and user insights</a:t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f98eb71f1e_0_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7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0" y="0"/>
            <a:ext cx="12188952" cy="1899601"/>
          </a:xfrm>
          <a:custGeom>
            <a:rect b="b" l="l" r="r" t="t"/>
            <a:pathLst>
              <a:path extrusionOk="0" h="1899601" w="12188952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0" y="0"/>
            <a:ext cx="12192000" cy="1890722"/>
          </a:xfrm>
          <a:custGeom>
            <a:rect b="b" l="l" r="r" t="t"/>
            <a:pathLst>
              <a:path extrusionOk="0" h="1890722" w="12192000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7"/>
          <p:cNvSpPr txBox="1"/>
          <p:nvPr>
            <p:ph type="title"/>
          </p:nvPr>
        </p:nvSpPr>
        <p:spPr>
          <a:xfrm>
            <a:off x="838200" y="253397"/>
            <a:ext cx="10515600" cy="1273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eko"/>
              <a:buNone/>
            </a:pPr>
            <a:r>
              <a:rPr b="1" lang="en-US" sz="4000">
                <a:latin typeface="Teko"/>
                <a:ea typeface="Teko"/>
                <a:cs typeface="Teko"/>
                <a:sym typeface="Teko"/>
              </a:rPr>
              <a:t>Development Methodology</a:t>
            </a:r>
            <a:br>
              <a:rPr lang="en-US" sz="4000"/>
            </a:br>
            <a:endParaRPr sz="4000"/>
          </a:p>
        </p:txBody>
      </p:sp>
      <p:sp>
        <p:nvSpPr>
          <p:cNvPr id="166" name="Google Shape;166;p7"/>
          <p:cNvSpPr/>
          <p:nvPr/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 txBox="1"/>
          <p:nvPr>
            <p:ph idx="1" type="body"/>
          </p:nvPr>
        </p:nvSpPr>
        <p:spPr>
          <a:xfrm>
            <a:off x="838200" y="2478025"/>
            <a:ext cx="44130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Developed using the Agile methodology across five iterations, emphasizing flexibility, collaboration, and continuous feedback.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8" name="Google Shape;16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1200" y="1709305"/>
            <a:ext cx="6797401" cy="4623746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69" name="Google Shape;169;p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-127175" y="-244575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651075" y="429225"/>
            <a:ext cx="11167500" cy="1332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EDEDE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C5C5C5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8"/>
          <p:cNvSpPr txBox="1"/>
          <p:nvPr>
            <p:ph type="title"/>
          </p:nvPr>
        </p:nvSpPr>
        <p:spPr>
          <a:xfrm>
            <a:off x="954171" y="319272"/>
            <a:ext cx="3560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eko"/>
              <a:buNone/>
            </a:pPr>
            <a:r>
              <a:rPr b="1" lang="en-US" sz="3200">
                <a:latin typeface="Teko"/>
                <a:ea typeface="Teko"/>
                <a:cs typeface="Teko"/>
                <a:sym typeface="Teko"/>
              </a:rPr>
              <a:t>Requirement Analysis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 txBox="1"/>
          <p:nvPr>
            <p:ph idx="1" type="body"/>
          </p:nvPr>
        </p:nvSpPr>
        <p:spPr>
          <a:xfrm>
            <a:off x="5351164" y="586822"/>
            <a:ext cx="6002636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en-US" sz="1800"/>
            </a:br>
            <a:endParaRPr sz="1800"/>
          </a:p>
        </p:txBody>
      </p:sp>
      <p:graphicFrame>
        <p:nvGraphicFramePr>
          <p:cNvPr id="181" name="Google Shape;181;p8"/>
          <p:cNvGraphicFramePr/>
          <p:nvPr/>
        </p:nvGraphicFramePr>
        <p:xfrm>
          <a:off x="792506" y="176183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{610D1F1F-9B31-43DD-9872-F19BADE30760}</a:tableStyleId>
              </a:tblPr>
              <a:tblGrid>
                <a:gridCol w="5417625"/>
                <a:gridCol w="5143675"/>
              </a:tblGrid>
              <a:tr h="5399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Functional Requirements</a:t>
                      </a:r>
                      <a:endParaRPr/>
                    </a:p>
                  </a:txBody>
                  <a:tcPr marT="62750" marB="62750" marR="125525" marL="125525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u="none" cap="none" strike="noStrike">
                          <a:latin typeface="Arial Narrow"/>
                          <a:ea typeface="Arial Narrow"/>
                          <a:cs typeface="Arial Narrow"/>
                          <a:sym typeface="Arial Narrow"/>
                        </a:rPr>
                        <a:t>Non-Functional Requirements</a:t>
                      </a:r>
                      <a:endParaRPr/>
                    </a:p>
                  </a:txBody>
                  <a:tcPr marT="62750" marB="62750" marR="125525" marL="125525"/>
                </a:tc>
              </a:tr>
              <a:tr h="88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u="none" cap="none" strike="noStrike"/>
                        <a:t>User Registration and Authentication</a:t>
                      </a:r>
                      <a:endParaRPr/>
                    </a:p>
                  </a:txBody>
                  <a:tcPr marT="62750" marB="62750" marR="125525" marL="125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Usability-simple, clean interface fro all user roles.</a:t>
                      </a:r>
                      <a:endParaRPr/>
                    </a:p>
                  </a:txBody>
                  <a:tcPr marT="62750" marB="62750" marR="125525" marL="125525"/>
                </a:tc>
              </a:tr>
              <a:tr h="88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Futsal discovery &amp; search by location, price</a:t>
                      </a:r>
                      <a:endParaRPr/>
                    </a:p>
                  </a:txBody>
                  <a:tcPr marT="62750" marB="62750" marR="125525" marL="125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Security-encrypted data, HTTPS, role-based access.</a:t>
                      </a:r>
                      <a:endParaRPr/>
                    </a:p>
                  </a:txBody>
                  <a:tcPr marT="62750" marB="62750" marR="125525" marL="125525"/>
                </a:tc>
              </a:tr>
              <a:tr h="88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Booking with slot-conflict prevention</a:t>
                      </a:r>
                      <a:endParaRPr/>
                    </a:p>
                  </a:txBody>
                  <a:tcPr marT="62750" marB="62750" marR="125525" marL="125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Performance- handles concurrent requests smoothly</a:t>
                      </a:r>
                      <a:endParaRPr/>
                    </a:p>
                  </a:txBody>
                  <a:tcPr marT="62750" marB="62750" marR="125525" marL="125525"/>
                </a:tc>
              </a:tr>
              <a:tr h="88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Ratings, reviews &amp; personalized court recommendations.</a:t>
                      </a:r>
                      <a:endParaRPr/>
                    </a:p>
                  </a:txBody>
                  <a:tcPr marT="62750" marB="62750" marR="125525" marL="125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Maintainability-modular architecture, easy to update.</a:t>
                      </a:r>
                      <a:endParaRPr/>
                    </a:p>
                  </a:txBody>
                  <a:tcPr marT="62750" marB="62750" marR="125525" marL="125525"/>
                </a:tc>
              </a:tr>
              <a:tr h="883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futsal owner dashboard: court, schedule, pricing</a:t>
                      </a:r>
                      <a:endParaRPr/>
                    </a:p>
                  </a:txBody>
                  <a:tcPr marT="62750" marB="62750" marR="125525" marL="1255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/>
                        <a:t>Reliability-</a:t>
                      </a:r>
                      <a:r>
                        <a:rPr lang="en-US" sz="2500"/>
                        <a:t>accurate, consistent results every time.</a:t>
                      </a:r>
                      <a:endParaRPr/>
                    </a:p>
                  </a:txBody>
                  <a:tcPr marT="62750" marB="62750" marR="125525" marL="125525"/>
                </a:tc>
              </a:tr>
            </a:tbl>
          </a:graphicData>
        </a:graphic>
      </p:graphicFrame>
      <p:sp>
        <p:nvSpPr>
          <p:cNvPr id="182" name="Google Shape;182;p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0" y="0"/>
            <a:ext cx="12188952" cy="1899601"/>
          </a:xfrm>
          <a:custGeom>
            <a:rect b="b" l="l" r="r" t="t"/>
            <a:pathLst>
              <a:path extrusionOk="0" h="1899601" w="12188952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0" y="0"/>
            <a:ext cx="12192000" cy="1890722"/>
          </a:xfrm>
          <a:custGeom>
            <a:rect b="b" l="l" r="r" t="t"/>
            <a:pathLst>
              <a:path extrusionOk="0" h="1890722" w="12192000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>
            <p:ph type="title"/>
          </p:nvPr>
        </p:nvSpPr>
        <p:spPr>
          <a:xfrm>
            <a:off x="838200" y="253397"/>
            <a:ext cx="10515600" cy="1273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eko"/>
              <a:buNone/>
            </a:pPr>
            <a:r>
              <a:rPr lang="en-US" sz="4000">
                <a:latin typeface="Teko"/>
                <a:ea typeface="Teko"/>
                <a:cs typeface="Teko"/>
                <a:sym typeface="Teko"/>
              </a:rPr>
              <a:t>Feasibility Study</a:t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>
            <p:ph idx="1" type="body"/>
          </p:nvPr>
        </p:nvSpPr>
        <p:spPr>
          <a:xfrm>
            <a:off x="838200" y="2478024"/>
            <a:ext cx="1051560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/>
              <a:t>Technical Feasibility</a:t>
            </a:r>
            <a:br>
              <a:rPr lang="en-US" sz="1700"/>
            </a:br>
            <a:r>
              <a:rPr lang="en-US" sz="1700"/>
              <a:t>Built using readily available and reliable </a:t>
            </a:r>
            <a:r>
              <a:rPr lang="en-US" sz="1700"/>
              <a:t>technologies: React, Node, Redis, Scikit-learn, docker.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/>
              <a:t>Economic Feasibility</a:t>
            </a:r>
            <a:br>
              <a:rPr lang="en-US" sz="1700"/>
            </a:br>
            <a:r>
              <a:rPr lang="en-US" sz="1700"/>
              <a:t>Developed at minimal cost using open-source technologies and free-tier cloud hosting services.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/>
              <a:t>Operational </a:t>
            </a:r>
            <a:r>
              <a:rPr b="1" lang="en-US" sz="1700"/>
              <a:t>Feasibility:</a:t>
            </a:r>
            <a:br>
              <a:rPr lang="en-US" sz="1700"/>
            </a:br>
            <a:r>
              <a:rPr lang="en-US" sz="1700"/>
              <a:t>Browser-based with no installation. Minimal training needed; owners just register and keep availability updated.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b="1" lang="en-US" sz="1700"/>
              <a:t>Schedule Feasibility</a:t>
            </a:r>
            <a:br>
              <a:rPr lang="en-US" sz="1700"/>
            </a:br>
            <a:r>
              <a:rPr lang="en-US" sz="1700"/>
              <a:t>Completed within 14 weeks across 10 phases, following Agile with overlapping tasks for timely delivery.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sp>
        <p:nvSpPr>
          <p:cNvPr id="193" name="Google Shape;193;p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2"/>
          <p:cNvSpPr/>
          <p:nvPr/>
        </p:nvSpPr>
        <p:spPr>
          <a:xfrm>
            <a:off x="0" y="2"/>
            <a:ext cx="11269336" cy="2008639"/>
          </a:xfrm>
          <a:custGeom>
            <a:rect b="b" l="l" r="r" t="t"/>
            <a:pathLst>
              <a:path extrusionOk="0" h="2323145" w="11269336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2"/>
          <p:cNvSpPr txBox="1"/>
          <p:nvPr>
            <p:ph type="title"/>
          </p:nvPr>
        </p:nvSpPr>
        <p:spPr>
          <a:xfrm>
            <a:off x="723901" y="509587"/>
            <a:ext cx="7649239" cy="7429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eko"/>
              <a:buNone/>
            </a:pPr>
            <a:r>
              <a:rPr lang="en-US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System Architecture</a:t>
            </a:r>
            <a:endParaRPr/>
          </a:p>
        </p:txBody>
      </p:sp>
      <p:sp>
        <p:nvSpPr>
          <p:cNvPr id="201" name="Google Shape;201;p12"/>
          <p:cNvSpPr/>
          <p:nvPr/>
        </p:nvSpPr>
        <p:spPr>
          <a:xfrm>
            <a:off x="5307088" y="6277971"/>
            <a:ext cx="6884912" cy="580030"/>
          </a:xfrm>
          <a:custGeom>
            <a:rect b="b" l="l" r="r" t="t"/>
            <a:pathLst>
              <a:path extrusionOk="0" h="1161397" w="6884912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4902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0950"/>
            <a:ext cx="12192000" cy="55470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3"/>
          <p:cNvSpPr/>
          <p:nvPr/>
        </p:nvSpPr>
        <p:spPr>
          <a:xfrm flipH="1">
            <a:off x="0" y="0"/>
            <a:ext cx="5962785" cy="6858000"/>
          </a:xfrm>
          <a:custGeom>
            <a:rect b="b" l="l" r="r" t="t"/>
            <a:pathLst>
              <a:path extrusionOk="0" h="6858000" w="5962785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  <a:solidFill>
            <a:schemeClr val="lt2">
              <a:alpha val="50196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-91150" y="1381425"/>
            <a:ext cx="2321700" cy="35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Workflow </a:t>
            </a:r>
            <a:endParaRPr sz="3600">
              <a:solidFill>
                <a:schemeClr val="dk1"/>
              </a:solidFill>
              <a:latin typeface="Teko"/>
              <a:ea typeface="Teko"/>
              <a:cs typeface="Teko"/>
              <a:sym typeface="Tek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of </a:t>
            </a:r>
            <a:endParaRPr sz="3600">
              <a:solidFill>
                <a:schemeClr val="dk1"/>
              </a:solidFill>
              <a:latin typeface="Teko"/>
              <a:ea typeface="Teko"/>
              <a:cs typeface="Teko"/>
              <a:sym typeface="Teko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the system</a:t>
            </a:r>
            <a:endParaRPr/>
          </a:p>
        </p:txBody>
      </p:sp>
      <p:pic>
        <p:nvPicPr>
          <p:cNvPr id="211" name="Google Shape;21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5325" y="0"/>
            <a:ext cx="101736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f98eb71f1e_0_48"/>
          <p:cNvSpPr txBox="1"/>
          <p:nvPr>
            <p:ph type="title"/>
          </p:nvPr>
        </p:nvSpPr>
        <p:spPr>
          <a:xfrm>
            <a:off x="887125" y="100975"/>
            <a:ext cx="10515600" cy="672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 Diagram 									 DFD level -0</a:t>
            </a:r>
            <a:endParaRPr/>
          </a:p>
        </p:txBody>
      </p:sp>
      <p:pic>
        <p:nvPicPr>
          <p:cNvPr id="219" name="Google Shape;219;g3f98eb71f1e_0_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700" y="704400"/>
            <a:ext cx="7542827" cy="615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g3f98eb71f1e_0_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0650" y="1081900"/>
            <a:ext cx="4344375" cy="4827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f98eb71f1e_0_4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98eb71f1e_0_56"/>
          <p:cNvSpPr txBox="1"/>
          <p:nvPr>
            <p:ph type="title"/>
          </p:nvPr>
        </p:nvSpPr>
        <p:spPr>
          <a:xfrm>
            <a:off x="906675" y="156550"/>
            <a:ext cx="10515600" cy="8025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DFD level-1</a:t>
            </a:r>
            <a:endParaRPr/>
          </a:p>
        </p:txBody>
      </p:sp>
      <p:pic>
        <p:nvPicPr>
          <p:cNvPr id="228" name="Google Shape;228;g3f98eb71f1e_0_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9500" y="919600"/>
            <a:ext cx="9865574" cy="60166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98eb71f1e_0_5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0" y="0"/>
            <a:ext cx="12188952" cy="1899601"/>
          </a:xfrm>
          <a:custGeom>
            <a:rect b="b" l="l" r="r" t="t"/>
            <a:pathLst>
              <a:path extrusionOk="0" h="1899601" w="12188952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0" y="0"/>
            <a:ext cx="12192000" cy="1890722"/>
          </a:xfrm>
          <a:custGeom>
            <a:rect b="b" l="l" r="r" t="t"/>
            <a:pathLst>
              <a:path extrusionOk="0" h="1890722" w="12192000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 txBox="1"/>
          <p:nvPr>
            <p:ph idx="1" type="body"/>
          </p:nvPr>
        </p:nvSpPr>
        <p:spPr>
          <a:xfrm>
            <a:off x="836676" y="2242968"/>
            <a:ext cx="10515600" cy="2862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A supervised classifier</a:t>
            </a:r>
            <a:r>
              <a:rPr b="1" lang="en-US" sz="2200"/>
              <a:t> Logistic Regression </a:t>
            </a:r>
            <a:r>
              <a:rPr lang="en-US" sz="2200"/>
              <a:t>that determines review sentiment. </a:t>
            </a:r>
            <a:r>
              <a:rPr b="1" lang="en-US" sz="2200"/>
              <a:t>TF-IDF</a:t>
            </a:r>
            <a:r>
              <a:rPr lang="en-US" sz="2200"/>
              <a:t> feature vectors from review text are passed through the trained model to output a Positive / Negative label.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en-US" sz="2200"/>
              <a:t>Why Sentiment Analysis?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To automatically understand whether users are satisfied or dissatisfied with a futsal based on their reviews and use that information to improve recommendations.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239" name="Google Shape;239;p10"/>
          <p:cNvSpPr txBox="1"/>
          <p:nvPr/>
        </p:nvSpPr>
        <p:spPr>
          <a:xfrm>
            <a:off x="963561" y="524522"/>
            <a:ext cx="5456904" cy="1046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eko"/>
                <a:ea typeface="Teko"/>
                <a:cs typeface="Teko"/>
                <a:sym typeface="Teko"/>
              </a:rPr>
              <a:t>Algorithm</a:t>
            </a:r>
            <a:endParaRPr b="1" sz="4400">
              <a:solidFill>
                <a:schemeClr val="dk1"/>
              </a:solidFill>
              <a:latin typeface="Teko"/>
              <a:ea typeface="Teko"/>
              <a:cs typeface="Teko"/>
              <a:sym typeface="Tek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1"/>
          <p:cNvSpPr/>
          <p:nvPr/>
        </p:nvSpPr>
        <p:spPr>
          <a:xfrm>
            <a:off x="0" y="0"/>
            <a:ext cx="12188952" cy="1899601"/>
          </a:xfrm>
          <a:custGeom>
            <a:rect b="b" l="l" r="r" t="t"/>
            <a:pathLst>
              <a:path extrusionOk="0" h="1899601" w="12188952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1"/>
          <p:cNvSpPr/>
          <p:nvPr/>
        </p:nvSpPr>
        <p:spPr>
          <a:xfrm>
            <a:off x="0" y="0"/>
            <a:ext cx="12192000" cy="1890722"/>
          </a:xfrm>
          <a:custGeom>
            <a:rect b="b" l="l" r="r" t="t"/>
            <a:pathLst>
              <a:path extrusionOk="0" h="1890722" w="12192000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1"/>
          <p:cNvSpPr txBox="1"/>
          <p:nvPr>
            <p:ph type="title"/>
          </p:nvPr>
        </p:nvSpPr>
        <p:spPr>
          <a:xfrm>
            <a:off x="838200" y="253397"/>
            <a:ext cx="10515600" cy="1273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Narrow"/>
              <a:buNone/>
            </a:pPr>
            <a:r>
              <a:rPr lang="en-US" sz="4000">
                <a:latin typeface="Arial Narrow"/>
                <a:ea typeface="Arial Narrow"/>
                <a:cs typeface="Arial Narrow"/>
                <a:sym typeface="Arial Narrow"/>
              </a:rPr>
              <a:t>Working of Algorithm</a:t>
            </a:r>
            <a:endParaRPr/>
          </a:p>
        </p:txBody>
      </p:sp>
      <p:sp>
        <p:nvSpPr>
          <p:cNvPr id="249" name="Google Shape;249;p11"/>
          <p:cNvSpPr/>
          <p:nvPr/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1"/>
          <p:cNvSpPr txBox="1"/>
          <p:nvPr>
            <p:ph idx="1" type="body"/>
          </p:nvPr>
        </p:nvSpPr>
        <p:spPr>
          <a:xfrm>
            <a:off x="483100" y="1974425"/>
            <a:ext cx="11163900" cy="48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800"/>
              <a:t>The sentiment of each futsal review is classified using Logistic Regression based on the TF-IDF feature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1600"/>
              <a:t>P(Positive) = 1 / (1 + e⁻ᶻ)</a:t>
            </a:r>
            <a:endParaRPr sz="16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The weighted score </a:t>
            </a:r>
            <a:r>
              <a:rPr b="1" lang="en-US" sz="1800"/>
              <a:t>z</a:t>
            </a:r>
            <a:r>
              <a:rPr lang="en-US" sz="1800"/>
              <a:t> is calculated as: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z = (w₁ × x₁) + (w₂ × x₂) + ... + (wₙ × xₙ) + b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Where: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x₁, x₂, ..., xₙ = TF-IDF feature values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w₁, w₂, ..., wₙ = Learned model weights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b = Bias/intercept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P(Positive) ≥ 0.5 - Positive Review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/>
              <a:t>P(Positive) &lt; 0.5 - Negative Review</a:t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The predicted sentiment is then used to identify futsal venues with more positive user feedback and support the recommendation of suitable futsal venues.</a:t>
            </a:r>
            <a:endParaRPr sz="2000"/>
          </a:p>
        </p:txBody>
      </p:sp>
      <p:sp>
        <p:nvSpPr>
          <p:cNvPr id="251" name="Google Shape;251;p1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4"/>
          <p:cNvSpPr/>
          <p:nvPr/>
        </p:nvSpPr>
        <p:spPr>
          <a:xfrm>
            <a:off x="0" y="0"/>
            <a:ext cx="12188952" cy="1899601"/>
          </a:xfrm>
          <a:custGeom>
            <a:rect b="b" l="l" r="r" t="t"/>
            <a:pathLst>
              <a:path extrusionOk="0" h="1899601" w="12188952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0" y="0"/>
            <a:ext cx="12192000" cy="1890722"/>
          </a:xfrm>
          <a:custGeom>
            <a:rect b="b" l="l" r="r" t="t"/>
            <a:pathLst>
              <a:path extrusionOk="0" h="1890722" w="12192000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 txBox="1"/>
          <p:nvPr>
            <p:ph type="title"/>
          </p:nvPr>
        </p:nvSpPr>
        <p:spPr>
          <a:xfrm>
            <a:off x="838200" y="253397"/>
            <a:ext cx="10515600" cy="1273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eko"/>
              <a:buNone/>
            </a:pPr>
            <a:r>
              <a:rPr b="1" lang="en-US" sz="4000">
                <a:latin typeface="Teko"/>
                <a:ea typeface="Teko"/>
                <a:cs typeface="Teko"/>
                <a:sym typeface="Teko"/>
              </a:rPr>
              <a:t>Conclusion</a:t>
            </a:r>
            <a:endParaRPr/>
          </a:p>
        </p:txBody>
      </p:sp>
      <p:sp>
        <p:nvSpPr>
          <p:cNvPr id="260" name="Google Shape;260;p14"/>
          <p:cNvSpPr/>
          <p:nvPr/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4"/>
          <p:cNvSpPr txBox="1"/>
          <p:nvPr>
            <p:ph idx="1" type="body"/>
          </p:nvPr>
        </p:nvSpPr>
        <p:spPr>
          <a:xfrm>
            <a:off x="838200" y="2478024"/>
            <a:ext cx="1051560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Overall,</a:t>
            </a:r>
            <a:r>
              <a:rPr lang="en-US" sz="2200"/>
              <a:t>our Futsal Booking and Management System provides a secure, efficient, and scalable platform for managing futsal businesses. </a:t>
            </a:r>
            <a:endParaRPr sz="22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It reduces manual errors and double bookings while streamlining booking, revenue tracking, subscriptions, and customer communication. </a:t>
            </a:r>
            <a:endParaRPr sz="22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Users benefit from real-time court discovery, instant confirmations, verified reviews, and proximity-based recommendations. </a:t>
            </a:r>
            <a:endParaRPr sz="22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The integration of sentiment analysis provides AI-driven insights from user feedback, while the multi-tenant SaaS architecture supports future expansion and nationwide futsal management.</a:t>
            </a:r>
            <a:endParaRPr sz="3900"/>
          </a:p>
        </p:txBody>
      </p:sp>
      <p:sp>
        <p:nvSpPr>
          <p:cNvPr id="262" name="Google Shape;262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5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0" y="0"/>
            <a:ext cx="12188952" cy="1899601"/>
          </a:xfrm>
          <a:custGeom>
            <a:rect b="b" l="l" r="r" t="t"/>
            <a:pathLst>
              <a:path extrusionOk="0" h="1899601" w="12188952">
                <a:moveTo>
                  <a:pt x="0" y="0"/>
                </a:moveTo>
                <a:lnTo>
                  <a:pt x="12188952" y="0"/>
                </a:lnTo>
                <a:lnTo>
                  <a:pt x="12188952" y="1635106"/>
                </a:lnTo>
                <a:lnTo>
                  <a:pt x="11356325" y="1707615"/>
                </a:lnTo>
                <a:cubicBezTo>
                  <a:pt x="9739512" y="1831240"/>
                  <a:pt x="7961919" y="1899601"/>
                  <a:pt x="6096001" y="1899601"/>
                </a:cubicBezTo>
                <a:cubicBezTo>
                  <a:pt x="4230084" y="1899601"/>
                  <a:pt x="2452490" y="1831240"/>
                  <a:pt x="835678" y="1707615"/>
                </a:cubicBezTo>
                <a:lnTo>
                  <a:pt x="0" y="1634841"/>
                </a:lnTo>
                <a:close/>
              </a:path>
            </a:pathLst>
          </a:custGeom>
          <a:solidFill>
            <a:schemeClr val="lt1"/>
          </a:solidFill>
          <a:ln cap="flat" cmpd="sng" w="9525">
            <a:solidFill>
              <a:srgbClr val="E6E6E6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5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0" y="0"/>
            <a:ext cx="12192000" cy="1890722"/>
          </a:xfrm>
          <a:custGeom>
            <a:rect b="b" l="l" r="r" t="t"/>
            <a:pathLst>
              <a:path extrusionOk="0" h="1890722" w="12192000">
                <a:moveTo>
                  <a:pt x="0" y="0"/>
                </a:moveTo>
                <a:lnTo>
                  <a:pt x="12192000" y="0"/>
                </a:lnTo>
                <a:lnTo>
                  <a:pt x="12192000" y="1626227"/>
                </a:lnTo>
                <a:lnTo>
                  <a:pt x="11359165" y="1698736"/>
                </a:lnTo>
                <a:cubicBezTo>
                  <a:pt x="9741947" y="1822361"/>
                  <a:pt x="7963910" y="1890722"/>
                  <a:pt x="6097526" y="1890722"/>
                </a:cubicBezTo>
                <a:cubicBezTo>
                  <a:pt x="4231142" y="1890722"/>
                  <a:pt x="2453104" y="1822361"/>
                  <a:pt x="835887" y="1698736"/>
                </a:cubicBezTo>
                <a:lnTo>
                  <a:pt x="0" y="162596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 txBox="1"/>
          <p:nvPr>
            <p:ph type="title"/>
          </p:nvPr>
        </p:nvSpPr>
        <p:spPr>
          <a:xfrm>
            <a:off x="838200" y="253397"/>
            <a:ext cx="10515600" cy="1273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eko"/>
              <a:buNone/>
            </a:pPr>
            <a:r>
              <a:rPr b="1" lang="en-US" sz="4000">
                <a:latin typeface="Teko"/>
                <a:ea typeface="Teko"/>
                <a:cs typeface="Teko"/>
                <a:sym typeface="Teko"/>
              </a:rPr>
              <a:t>References</a:t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0" y="52452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 txBox="1"/>
          <p:nvPr>
            <p:ph idx="1" type="body"/>
          </p:nvPr>
        </p:nvSpPr>
        <p:spPr>
          <a:xfrm>
            <a:off x="838200" y="2478024"/>
            <a:ext cx="1051560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[1] A. N. S. Suhaimi and M. Z. Sahid, "A Development of Futsal Court Booking System," AITCS, vol. 4, no. 1, 2023.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[2] </a:t>
            </a:r>
            <a:r>
              <a:rPr lang="en-US" sz="2200"/>
              <a:t>UiTM, "Progressive Web Applications for Mobile-First Systems," 2024.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[3]</a:t>
            </a:r>
            <a:r>
              <a:rPr lang="en-US" sz="2200"/>
              <a:t> S. Nagar et al., "Logistic Regression Based Approach for Human Sentiment Analysis," ACROSET, 2024.</a:t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en-US" sz="2200"/>
              <a:t>[4] IBM, "What is multi-tenant architecture?" Available: https://www.ibm.com/think/topics/multi-tenant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</p:txBody>
      </p:sp>
      <p:sp>
        <p:nvSpPr>
          <p:cNvPr id="273" name="Google Shape;273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6"/>
          <p:cNvSpPr txBox="1"/>
          <p:nvPr>
            <p:ph type="title"/>
          </p:nvPr>
        </p:nvSpPr>
        <p:spPr>
          <a:xfrm>
            <a:off x="3225433" y="739302"/>
            <a:ext cx="5340485" cy="22062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</a:pPr>
            <a:r>
              <a:rPr lang="en-US" sz="6600"/>
              <a:t>THANK YOU</a:t>
            </a:r>
            <a:endParaRPr/>
          </a:p>
        </p:txBody>
      </p:sp>
      <p:pic>
        <p:nvPicPr>
          <p:cNvPr id="279" name="Google Shape;279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3670" y="2512987"/>
            <a:ext cx="5778228" cy="331334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2025-11-08T13:00:02Z</dcterms:created>
  <dc:creator>Bishal Adhikari</dc:creator>
</cp:coreProperties>
</file>