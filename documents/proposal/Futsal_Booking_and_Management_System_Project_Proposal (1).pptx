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8.png" ContentType="image/png"/>
  <Override PartName="/ppt/media/image12.png" ContentType="image/png"/>
  <Override PartName="/ppt/media/image35.png" ContentType="image/png"/>
  <Override PartName="/ppt/media/image3.png" ContentType="image/png"/>
  <Override PartName="/ppt/media/image30.png" ContentType="image/png"/>
  <Override PartName="/ppt/media/image31.png" ContentType="image/png"/>
  <Override PartName="/ppt/media/image36.png" ContentType="image/png"/>
  <Override PartName="/ppt/media/image4.png" ContentType="image/png"/>
  <Override PartName="/ppt/media/image15.jpeg" ContentType="image/jpeg"/>
  <Override PartName="/ppt/media/image13.png" ContentType="image/png"/>
  <Override PartName="/ppt/media/image32.png" ContentType="image/png"/>
  <Override PartName="/ppt/media/image34.jpeg" ContentType="image/jpeg"/>
  <Override PartName="/ppt/media/image11.png" ContentType="image/png"/>
  <Override PartName="/ppt/media/image2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17.jpeg" ContentType="image/jpeg"/>
  <Override PartName="/ppt/media/image33.png" ContentType="image/png"/>
  <Override PartName="/ppt/media/image37.png" ContentType="image/png"/>
  <Override PartName="/ppt/media/image5.png" ContentType="image/png"/>
  <Override PartName="/ppt/media/image14.png" ContentType="image/png"/>
  <Override PartName="/ppt/media/image26.jpeg" ContentType="image/jpeg"/>
  <Override PartName="/ppt/media/image38.png" ContentType="image/png"/>
  <Override PartName="/ppt/media/image6.png" ContentType="image/png"/>
  <Override PartName="/ppt/media/image1.jpeg" ContentType="image/jpeg"/>
  <Override PartName="/ppt/media/image10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v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B49C74B-F87D-4DD9-A76F-B7726B7E59F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940A6C-2CDF-4E5E-8964-EDE07D2DC70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241C9-2907-4DE8-A5E2-C6322200686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1172B4-B3FA-418A-8FF4-7B9472B5781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B7CE3C-3E24-4453-85A3-3E7D460B5E7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B02346-573D-454E-B34D-36E7FF8B6F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9F6B2B-FD7B-439C-A595-C128DB7EB0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14C630-F1E4-4825-839D-6BE08C9CA40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20B6FD-BB0D-4C60-A02A-48B15262B1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A38862-9238-4A07-95CD-89A19623E46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12081A-DDDE-4074-95B4-C164F9805E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AF65BB-0F94-4748-8CEF-C33D9102E95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AD4F9D-A51D-4DA4-9EE4-ECF48F2202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C4E004-CF92-4B32-B1C0-9BC3127F07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edit the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title text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3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9" name="Shape 0"/>
          <p:cNvSpPr/>
          <p:nvPr/>
        </p:nvSpPr>
        <p:spPr>
          <a:xfrm>
            <a:off x="642960" y="857160"/>
            <a:ext cx="7857720" cy="3428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642960" y="857160"/>
            <a:ext cx="4653000" cy="3428640"/>
          </a:xfrm>
          <a:prstGeom prst="rect">
            <a:avLst/>
          </a:prstGeom>
          <a:solidFill>
            <a:srgbClr val="091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1071720" y="1528560"/>
            <a:ext cx="3938760" cy="289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1071720" y="1528560"/>
            <a:ext cx="3938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68040" bIns="6804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ffffff"/>
                </a:solidFill>
                <a:latin typeface="Calibri"/>
              </a:rPr>
              <a:t>PROJECT PROPOSAL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1071720" y="2228760"/>
            <a:ext cx="393876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  <a:tabLst>
                <a:tab algn="l" pos="0"/>
              </a:tabLst>
            </a:pPr>
            <a:r>
              <a:rPr b="1" lang="en-US" sz="2860" spc="-1" strike="noStrike">
                <a:solidFill>
                  <a:srgbClr val="ffffff"/>
                </a:solidFill>
                <a:latin typeface="Calibri"/>
              </a:rPr>
              <a:t>Futsal Booking and Management System</a:t>
            </a:r>
            <a:endParaRPr b="0" lang="en-US" sz="2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2171160" y="3634560"/>
            <a:ext cx="17398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>
                    <a:alpha val="80000"/>
                  </a:srgbClr>
                </a:solidFill>
                <a:latin typeface="Calibri"/>
              </a:rPr>
              <a:t>B.Sc. CSIT | Tribhuvan University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6661440" y="1143000"/>
            <a:ext cx="48132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Submitted By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6606000" y="1314360"/>
            <a:ext cx="592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Aashish Rijal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6514560" y="1518120"/>
            <a:ext cx="775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Kedar Dhungana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6535800" y="1721520"/>
            <a:ext cx="7326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Dipesh Devkota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6451920" y="2039400"/>
            <a:ext cx="90036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Under the Supervision of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6561000" y="2211120"/>
            <a:ext cx="6822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Mr. Surya Bam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6714360" y="3286080"/>
            <a:ext cx="3758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Institution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5589360" y="3457440"/>
            <a:ext cx="26258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Asian School of Management and Technology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6578640" y="3864600"/>
            <a:ext cx="64728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91e42"/>
                </a:solidFill>
                <a:latin typeface="Calibri"/>
              </a:rPr>
              <a:t>February 15, 2026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5" name="Text 0"/>
          <p:cNvSpPr/>
          <p:nvPr/>
        </p:nvSpPr>
        <p:spPr>
          <a:xfrm>
            <a:off x="3117600" y="428760"/>
            <a:ext cx="34804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091e42"/>
                </a:solidFill>
                <a:latin typeface="Calibri"/>
              </a:rPr>
              <a:t>Introduction &amp; Background</a:t>
            </a:r>
            <a:endParaRPr b="0" lang="en-US" sz="24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Image 1" descr="preencoded.png"/>
          <p:cNvPicPr/>
          <p:nvPr/>
        </p:nvPicPr>
        <p:blipFill>
          <a:blip r:embed="rId2"/>
          <a:stretch/>
        </p:blipFill>
        <p:spPr>
          <a:xfrm>
            <a:off x="571680" y="109728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27" name="Text 1"/>
          <p:cNvSpPr/>
          <p:nvPr/>
        </p:nvSpPr>
        <p:spPr>
          <a:xfrm>
            <a:off x="1048680" y="1066320"/>
            <a:ext cx="11746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52cc"/>
                </a:solidFill>
                <a:latin typeface="Calibri"/>
              </a:rPr>
              <a:t>Current Landscape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571680" y="1400040"/>
            <a:ext cx="3871440" cy="828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571680" y="1400040"/>
            <a:ext cx="3871440" cy="28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1970280" y="1486080"/>
            <a:ext cx="1073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Futsal Growth in Nepal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700200" y="1703880"/>
            <a:ext cx="36144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Rapid increase in urban futsal centers due to rising interest in indoor football and recreation.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571680" y="2286000"/>
            <a:ext cx="3871440" cy="828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571680" y="2286000"/>
            <a:ext cx="3871440" cy="28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1981080" y="2371680"/>
            <a:ext cx="10526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Manual Dependency </a:t>
            </a:r>
            <a:r>
              <a:rPr b="1" lang="en-US" sz="689" spc="-1" strike="noStrike" baseline="30000">
                <a:solidFill>
                  <a:srgbClr val="0052cc"/>
                </a:solidFill>
                <a:latin typeface="Calibri"/>
              </a:rPr>
              <a:t>[1]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700200" y="2603880"/>
            <a:ext cx="361440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Most facilities rely on </a:t>
            </a:r>
            <a:r>
              <a:rPr b="1" lang="en-US" sz="790" spc="-1" strike="noStrike">
                <a:solidFill>
                  <a:srgbClr val="0052cc"/>
                </a:solidFill>
                <a:latin typeface="Calibri"/>
              </a:rPr>
              <a:t>phone calls</a:t>
            </a: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, </a:t>
            </a:r>
            <a:r>
              <a:rPr b="1" lang="en-US" sz="790" spc="-1" strike="noStrike">
                <a:solidFill>
                  <a:srgbClr val="0052cc"/>
                </a:solidFill>
                <a:latin typeface="Calibri"/>
              </a:rPr>
              <a:t>social media</a:t>
            </a: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, or </a:t>
            </a:r>
            <a:r>
              <a:rPr b="1" lang="en-US" sz="790" spc="-1" strike="noStrike">
                <a:solidFill>
                  <a:srgbClr val="0052cc"/>
                </a:solidFill>
                <a:latin typeface="Calibri"/>
              </a:rPr>
              <a:t>paper registers</a:t>
            </a: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 for bookings.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" name="Image 2" descr="preencoded.png"/>
          <p:cNvPicPr/>
          <p:nvPr/>
        </p:nvPicPr>
        <p:blipFill>
          <a:blip r:embed="rId3"/>
          <a:stretch/>
        </p:blipFill>
        <p:spPr>
          <a:xfrm>
            <a:off x="4700520" y="109728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37" name="Text 10"/>
          <p:cNvSpPr/>
          <p:nvPr/>
        </p:nvSpPr>
        <p:spPr>
          <a:xfrm>
            <a:off x="5154840" y="1066320"/>
            <a:ext cx="11592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52cc"/>
                </a:solidFill>
                <a:latin typeface="Calibri"/>
              </a:rPr>
              <a:t>Proposed Solution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1"/>
          <p:cNvSpPr/>
          <p:nvPr/>
        </p:nvSpPr>
        <p:spPr>
          <a:xfrm>
            <a:off x="4700520" y="1400040"/>
            <a:ext cx="3871440" cy="828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2"/>
          <p:cNvSpPr/>
          <p:nvPr/>
        </p:nvSpPr>
        <p:spPr>
          <a:xfrm>
            <a:off x="4700520" y="1400040"/>
            <a:ext cx="3871440" cy="28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5959080" y="1486080"/>
            <a:ext cx="13543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Multi-Tenant SaaS Platform </a:t>
            </a:r>
            <a:r>
              <a:rPr b="1" lang="en-US" sz="689" spc="-1" strike="noStrike" baseline="30000">
                <a:solidFill>
                  <a:srgbClr val="0052cc"/>
                </a:solidFill>
                <a:latin typeface="Calibri"/>
              </a:rPr>
              <a:t>[2]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4829040" y="1717920"/>
            <a:ext cx="36144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Centralized web-based system allowing multiple businesses to operate independently on shared infrastructure.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5"/>
          <p:cNvSpPr/>
          <p:nvPr/>
        </p:nvSpPr>
        <p:spPr>
          <a:xfrm>
            <a:off x="4700520" y="2286000"/>
            <a:ext cx="3871440" cy="828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6"/>
          <p:cNvSpPr/>
          <p:nvPr/>
        </p:nvSpPr>
        <p:spPr>
          <a:xfrm>
            <a:off x="4700520" y="2286000"/>
            <a:ext cx="3871440" cy="28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6230880" y="2371680"/>
            <a:ext cx="8103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Smart Innovation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8"/>
          <p:cNvSpPr/>
          <p:nvPr/>
        </p:nvSpPr>
        <p:spPr>
          <a:xfrm>
            <a:off x="4829040" y="2589480"/>
            <a:ext cx="36144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Integration of </a:t>
            </a:r>
            <a:r>
              <a:rPr b="1" lang="en-US" sz="790" spc="-1" strike="noStrike">
                <a:solidFill>
                  <a:srgbClr val="0052cc"/>
                </a:solidFill>
                <a:latin typeface="Calibri"/>
              </a:rPr>
              <a:t>AI/ML</a:t>
            </a: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 for automated review summarization and proximity-based recommendations.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7" name="Text 0"/>
          <p:cNvSpPr/>
          <p:nvPr/>
        </p:nvSpPr>
        <p:spPr>
          <a:xfrm>
            <a:off x="3610440" y="428760"/>
            <a:ext cx="24944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091e42"/>
                </a:solidFill>
                <a:latin typeface="Calibri"/>
              </a:rPr>
              <a:t>Problem Statement</a:t>
            </a:r>
            <a:endParaRPr b="0" lang="en-US" sz="2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571680" y="1109160"/>
            <a:ext cx="8000640" cy="892440"/>
          </a:xfrm>
          <a:prstGeom prst="rect">
            <a:avLst/>
          </a:prstGeom>
          <a:solidFill>
            <a:srgbClr val="091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571680" y="1109160"/>
            <a:ext cx="42480" cy="89244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571680" y="1109160"/>
            <a:ext cx="800064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240" rIns="255240" tIns="21276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ffffff"/>
                </a:solidFill>
                <a:latin typeface="Calibri"/>
              </a:rPr>
              <a:t>Current futsal management relies on outdated manual systems, leading to operational inefficiencies, poor customer experience, and a lack of data-driven business insights.</a:t>
            </a:r>
            <a:endParaRPr b="0" lang="en-U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571680" y="2287800"/>
            <a:ext cx="2523600" cy="199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571680" y="2287800"/>
            <a:ext cx="2523600" cy="28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6"/>
          <p:cNvSpPr/>
          <p:nvPr/>
        </p:nvSpPr>
        <p:spPr>
          <a:xfrm>
            <a:off x="714240" y="2466360"/>
            <a:ext cx="356760" cy="356760"/>
          </a:xfrm>
          <a:prstGeom prst="ellipse">
            <a:avLst/>
          </a:prstGeom>
          <a:solidFill>
            <a:srgbClr val="f4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Image 1" descr="preencoded.png"/>
          <p:cNvPicPr/>
          <p:nvPr/>
        </p:nvPicPr>
        <p:blipFill>
          <a:blip r:embed="rId2"/>
          <a:stretch/>
        </p:blipFill>
        <p:spPr>
          <a:xfrm>
            <a:off x="807120" y="255924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55" name="Text 7"/>
          <p:cNvSpPr/>
          <p:nvPr/>
        </p:nvSpPr>
        <p:spPr>
          <a:xfrm>
            <a:off x="1355040" y="2966400"/>
            <a:ext cx="95652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91e42"/>
                </a:solidFill>
                <a:latin typeface="Calibri"/>
              </a:rPr>
              <a:t>Operational Chaos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714240" y="3268440"/>
            <a:ext cx="223812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Manual bookings via phone/social media cause </a:t>
            </a:r>
            <a:r>
              <a:rPr b="1" lang="en-US" sz="730" spc="-1" strike="noStrike">
                <a:solidFill>
                  <a:srgbClr val="0052cc"/>
                </a:solidFill>
                <a:latin typeface="Calibri"/>
              </a:rPr>
              <a:t>double bookings</a:t>
            </a: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, scheduling conflicts, and inaccurate record-keeping.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9"/>
          <p:cNvSpPr/>
          <p:nvPr/>
        </p:nvSpPr>
        <p:spPr>
          <a:xfrm>
            <a:off x="3309840" y="2287800"/>
            <a:ext cx="2523600" cy="199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3309840" y="2287800"/>
            <a:ext cx="2523600" cy="28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3452760" y="2466360"/>
            <a:ext cx="356760" cy="356760"/>
          </a:xfrm>
          <a:prstGeom prst="ellipse">
            <a:avLst/>
          </a:prstGeom>
          <a:solidFill>
            <a:srgbClr val="f4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Image 2" descr="preencoded.png"/>
          <p:cNvPicPr/>
          <p:nvPr/>
        </p:nvPicPr>
        <p:blipFill>
          <a:blip r:embed="rId3"/>
          <a:stretch/>
        </p:blipFill>
        <p:spPr>
          <a:xfrm>
            <a:off x="3545640" y="255924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61" name="Text 12"/>
          <p:cNvSpPr/>
          <p:nvPr/>
        </p:nvSpPr>
        <p:spPr>
          <a:xfrm>
            <a:off x="4102560" y="2966400"/>
            <a:ext cx="93852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91e42"/>
                </a:solidFill>
                <a:latin typeface="Calibri"/>
              </a:rPr>
              <a:t>Discovery Barriers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3452760" y="3268440"/>
            <a:ext cx="223812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No centralized platform for players to </a:t>
            </a:r>
            <a:r>
              <a:rPr b="1" lang="en-US" sz="730" spc="-1" strike="noStrike">
                <a:solidFill>
                  <a:srgbClr val="0052cc"/>
                </a:solidFill>
                <a:latin typeface="Calibri"/>
              </a:rPr>
              <a:t>discover and compare</a:t>
            </a: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 multiple courts, prices, and verified reviews.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4"/>
          <p:cNvSpPr/>
          <p:nvPr/>
        </p:nvSpPr>
        <p:spPr>
          <a:xfrm>
            <a:off x="6048360" y="2287800"/>
            <a:ext cx="2523600" cy="199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5"/>
          <p:cNvSpPr/>
          <p:nvPr/>
        </p:nvSpPr>
        <p:spPr>
          <a:xfrm>
            <a:off x="6048360" y="2287800"/>
            <a:ext cx="2523600" cy="28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6"/>
          <p:cNvSpPr/>
          <p:nvPr/>
        </p:nvSpPr>
        <p:spPr>
          <a:xfrm>
            <a:off x="6191280" y="2466360"/>
            <a:ext cx="356760" cy="356760"/>
          </a:xfrm>
          <a:prstGeom prst="ellipse">
            <a:avLst/>
          </a:prstGeom>
          <a:solidFill>
            <a:srgbClr val="f4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Image 3" descr="preencoded.png"/>
          <p:cNvPicPr/>
          <p:nvPr/>
        </p:nvPicPr>
        <p:blipFill>
          <a:blip r:embed="rId4"/>
          <a:stretch/>
        </p:blipFill>
        <p:spPr>
          <a:xfrm>
            <a:off x="6284160" y="255924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67" name="Text 17"/>
          <p:cNvSpPr/>
          <p:nvPr/>
        </p:nvSpPr>
        <p:spPr>
          <a:xfrm>
            <a:off x="6654240" y="2966400"/>
            <a:ext cx="13118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91e42"/>
                </a:solidFill>
                <a:latin typeface="Calibri"/>
              </a:rPr>
              <a:t>Business Intelligence Gap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8"/>
          <p:cNvSpPr/>
          <p:nvPr/>
        </p:nvSpPr>
        <p:spPr>
          <a:xfrm>
            <a:off x="6191280" y="3268440"/>
            <a:ext cx="223812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Owners lack access to </a:t>
            </a:r>
            <a:r>
              <a:rPr b="1" lang="en-US" sz="730" spc="-1" strike="noStrike">
                <a:solidFill>
                  <a:srgbClr val="0052cc"/>
                </a:solidFill>
                <a:latin typeface="Calibri"/>
              </a:rPr>
              <a:t>revenue analysis</a:t>
            </a: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, usage trends, and modern AI tools like sentiment analysis.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0" name="Text 0"/>
          <p:cNvSpPr/>
          <p:nvPr/>
        </p:nvSpPr>
        <p:spPr>
          <a:xfrm>
            <a:off x="3696840" y="428760"/>
            <a:ext cx="232200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091e42"/>
                </a:solidFill>
                <a:latin typeface="Calibri"/>
              </a:rPr>
              <a:t>Project Objectives</a:t>
            </a:r>
            <a:endParaRPr b="0" lang="en-US" sz="2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571680" y="1180440"/>
            <a:ext cx="1892880" cy="2964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571680" y="1180440"/>
            <a:ext cx="1892880" cy="352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360" bIns="-9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1303560" y="1394640"/>
            <a:ext cx="428400" cy="428400"/>
          </a:xfrm>
          <a:prstGeom prst="rect">
            <a:avLst/>
          </a:prstGeom>
          <a:solidFill>
            <a:srgbClr val="f4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Image 1" descr="preencoded.png"/>
          <p:cNvPicPr/>
          <p:nvPr/>
        </p:nvPicPr>
        <p:blipFill>
          <a:blip r:embed="rId2"/>
          <a:stretch/>
        </p:blipFill>
        <p:spPr>
          <a:xfrm>
            <a:off x="1418040" y="1509120"/>
            <a:ext cx="199800" cy="199800"/>
          </a:xfrm>
          <a:prstGeom prst="rect">
            <a:avLst/>
          </a:prstGeom>
          <a:ln w="0">
            <a:noFill/>
          </a:ln>
        </p:spPr>
      </p:pic>
      <p:sp>
        <p:nvSpPr>
          <p:cNvPr id="75" name="Text 4"/>
          <p:cNvSpPr/>
          <p:nvPr/>
        </p:nvSpPr>
        <p:spPr>
          <a:xfrm>
            <a:off x="989280" y="2001960"/>
            <a:ext cx="10573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91e42"/>
                </a:solidFill>
                <a:latin typeface="Calibri"/>
              </a:rPr>
              <a:t>Centralized Platform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714240" y="2280600"/>
            <a:ext cx="160704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Develop a unified web portal for </a:t>
            </a: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real-time discovery</a:t>
            </a: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 and court booking, ensuring accessibility for all users.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6"/>
          <p:cNvSpPr/>
          <p:nvPr/>
        </p:nvSpPr>
        <p:spPr>
          <a:xfrm>
            <a:off x="2607480" y="1180440"/>
            <a:ext cx="1892880" cy="2964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7"/>
          <p:cNvSpPr/>
          <p:nvPr/>
        </p:nvSpPr>
        <p:spPr>
          <a:xfrm>
            <a:off x="2607480" y="1180440"/>
            <a:ext cx="1892880" cy="352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360" bIns="-9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3339720" y="1394640"/>
            <a:ext cx="428400" cy="428400"/>
          </a:xfrm>
          <a:prstGeom prst="rect">
            <a:avLst/>
          </a:prstGeom>
          <a:solidFill>
            <a:srgbClr val="f4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Image 2" descr="preencoded.png"/>
          <p:cNvPicPr/>
          <p:nvPr/>
        </p:nvPicPr>
        <p:blipFill>
          <a:blip r:embed="rId3"/>
          <a:stretch/>
        </p:blipFill>
        <p:spPr>
          <a:xfrm>
            <a:off x="3453840" y="1509120"/>
            <a:ext cx="199800" cy="199800"/>
          </a:xfrm>
          <a:prstGeom prst="rect">
            <a:avLst/>
          </a:prstGeom>
          <a:ln w="0">
            <a:noFill/>
          </a:ln>
        </p:spPr>
      </p:pic>
      <p:sp>
        <p:nvSpPr>
          <p:cNvPr id="81" name="Text 9"/>
          <p:cNvSpPr/>
          <p:nvPr/>
        </p:nvSpPr>
        <p:spPr>
          <a:xfrm>
            <a:off x="3087720" y="2001960"/>
            <a:ext cx="9324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91e42"/>
                </a:solidFill>
                <a:latin typeface="Calibri"/>
              </a:rPr>
              <a:t>Multi-Tenant SaaS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2750400" y="2280600"/>
            <a:ext cx="160704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Implement a </a:t>
            </a: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scalable architecture</a:t>
            </a: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 allowing multiple futsal facilities to operate independently within one system.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1"/>
          <p:cNvSpPr/>
          <p:nvPr/>
        </p:nvSpPr>
        <p:spPr>
          <a:xfrm>
            <a:off x="4643280" y="1180440"/>
            <a:ext cx="1892880" cy="2964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12"/>
          <p:cNvSpPr/>
          <p:nvPr/>
        </p:nvSpPr>
        <p:spPr>
          <a:xfrm>
            <a:off x="4643280" y="1180440"/>
            <a:ext cx="1892880" cy="352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360" bIns="-9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5375520" y="1394640"/>
            <a:ext cx="428400" cy="428400"/>
          </a:xfrm>
          <a:prstGeom prst="rect">
            <a:avLst/>
          </a:prstGeom>
          <a:solidFill>
            <a:srgbClr val="f4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Image 3" descr="preencoded.png"/>
          <p:cNvPicPr/>
          <p:nvPr/>
        </p:nvPicPr>
        <p:blipFill>
          <a:blip r:embed="rId4"/>
          <a:stretch/>
        </p:blipFill>
        <p:spPr>
          <a:xfrm>
            <a:off x="5464800" y="1509120"/>
            <a:ext cx="249840" cy="199800"/>
          </a:xfrm>
          <a:prstGeom prst="rect">
            <a:avLst/>
          </a:prstGeom>
          <a:ln w="0">
            <a:noFill/>
          </a:ln>
        </p:spPr>
      </p:pic>
      <p:sp>
        <p:nvSpPr>
          <p:cNvPr id="87" name="Text 14"/>
          <p:cNvSpPr/>
          <p:nvPr/>
        </p:nvSpPr>
        <p:spPr>
          <a:xfrm>
            <a:off x="5051160" y="2001960"/>
            <a:ext cx="10771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91e42"/>
                </a:solidFill>
                <a:latin typeface="Calibri"/>
              </a:rPr>
              <a:t>Community Features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5"/>
          <p:cNvSpPr/>
          <p:nvPr/>
        </p:nvSpPr>
        <p:spPr>
          <a:xfrm>
            <a:off x="4786200" y="2280600"/>
            <a:ext cx="160704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Enable </a:t>
            </a: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verified ratings</a:t>
            </a: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, reviews, and discussion forums to enhance user interaction and trust.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6"/>
          <p:cNvSpPr/>
          <p:nvPr/>
        </p:nvSpPr>
        <p:spPr>
          <a:xfrm>
            <a:off x="6679440" y="1180440"/>
            <a:ext cx="1892880" cy="2964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7"/>
          <p:cNvSpPr/>
          <p:nvPr/>
        </p:nvSpPr>
        <p:spPr>
          <a:xfrm>
            <a:off x="6679440" y="1180440"/>
            <a:ext cx="1892880" cy="352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360" bIns="-9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18"/>
          <p:cNvSpPr/>
          <p:nvPr/>
        </p:nvSpPr>
        <p:spPr>
          <a:xfrm>
            <a:off x="7411680" y="1394640"/>
            <a:ext cx="428400" cy="428400"/>
          </a:xfrm>
          <a:prstGeom prst="rect">
            <a:avLst/>
          </a:prstGeom>
          <a:solidFill>
            <a:srgbClr val="f4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Image 4" descr="preencoded.png"/>
          <p:cNvPicPr/>
          <p:nvPr/>
        </p:nvPicPr>
        <p:blipFill>
          <a:blip r:embed="rId5"/>
          <a:stretch/>
        </p:blipFill>
        <p:spPr>
          <a:xfrm>
            <a:off x="7525800" y="1509120"/>
            <a:ext cx="199800" cy="199800"/>
          </a:xfrm>
          <a:prstGeom prst="rect">
            <a:avLst/>
          </a:prstGeom>
          <a:ln w="0">
            <a:noFill/>
          </a:ln>
        </p:spPr>
      </p:pic>
      <p:sp>
        <p:nvSpPr>
          <p:cNvPr id="93" name="Text 19"/>
          <p:cNvSpPr/>
          <p:nvPr/>
        </p:nvSpPr>
        <p:spPr>
          <a:xfrm>
            <a:off x="7162560" y="2001960"/>
            <a:ext cx="9262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4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91e42"/>
                </a:solidFill>
                <a:latin typeface="Calibri"/>
              </a:rPr>
              <a:t>AI/ML Integration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20"/>
          <p:cNvSpPr/>
          <p:nvPr/>
        </p:nvSpPr>
        <p:spPr>
          <a:xfrm>
            <a:off x="6822360" y="2280600"/>
            <a:ext cx="160704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Integrate </a:t>
            </a: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sentiment analysis</a:t>
            </a: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 and review summarization for smarter business decision-making.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96" name="Text 0"/>
          <p:cNvSpPr/>
          <p:nvPr/>
        </p:nvSpPr>
        <p:spPr>
          <a:xfrm>
            <a:off x="3730320" y="428760"/>
            <a:ext cx="22550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091e42"/>
                </a:solidFill>
                <a:latin typeface="Calibri"/>
              </a:rPr>
              <a:t>Literature Review</a:t>
            </a:r>
            <a:endParaRPr b="0" lang="en-US" sz="2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"/>
          <p:cNvSpPr/>
          <p:nvPr/>
        </p:nvSpPr>
        <p:spPr>
          <a:xfrm>
            <a:off x="571680" y="1180440"/>
            <a:ext cx="8000640" cy="856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571680" y="1180440"/>
            <a:ext cx="28080" cy="85680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9" name="Image 1" descr="preencoded.png"/>
          <p:cNvPicPr/>
          <p:nvPr/>
        </p:nvPicPr>
        <p:blipFill>
          <a:blip r:embed="rId2"/>
          <a:stretch/>
        </p:blipFill>
        <p:spPr>
          <a:xfrm>
            <a:off x="785880" y="1346760"/>
            <a:ext cx="112320" cy="128160"/>
          </a:xfrm>
          <a:prstGeom prst="rect">
            <a:avLst/>
          </a:prstGeom>
          <a:ln w="0">
            <a:noFill/>
          </a:ln>
        </p:spPr>
      </p:pic>
      <p:sp>
        <p:nvSpPr>
          <p:cNvPr id="100" name="Text 3"/>
          <p:cNvSpPr/>
          <p:nvPr/>
        </p:nvSpPr>
        <p:spPr>
          <a:xfrm>
            <a:off x="1151280" y="1323360"/>
            <a:ext cx="10908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052cc"/>
                </a:solidFill>
                <a:latin typeface="Calibri"/>
              </a:rPr>
              <a:t>Suhaimi &amp; Sahid (2021)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2566440" y="1338480"/>
            <a:ext cx="722520" cy="144360"/>
          </a:xfrm>
          <a:prstGeom prst="rect">
            <a:avLst/>
          </a:prstGeom>
          <a:solidFill>
            <a:srgbClr val="e6e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2642760" y="1338480"/>
            <a:ext cx="56988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040" rIns="68040" tIns="16920" bIns="1692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DIGITAL SHIFT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785880" y="1555560"/>
            <a:ext cx="75718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Research highlights the necessity of replacing manual logbooks with database-driven platforms to improve booking visibility and scheduling clarity.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571680" y="2180520"/>
            <a:ext cx="8000640" cy="856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8"/>
          <p:cNvSpPr/>
          <p:nvPr/>
        </p:nvSpPr>
        <p:spPr>
          <a:xfrm>
            <a:off x="571680" y="2180520"/>
            <a:ext cx="28080" cy="85680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Image 2" descr="preencoded.png"/>
          <p:cNvPicPr/>
          <p:nvPr/>
        </p:nvPicPr>
        <p:blipFill>
          <a:blip r:embed="rId3"/>
          <a:stretch/>
        </p:blipFill>
        <p:spPr>
          <a:xfrm>
            <a:off x="785880" y="2346840"/>
            <a:ext cx="128160" cy="128160"/>
          </a:xfrm>
          <a:prstGeom prst="rect">
            <a:avLst/>
          </a:prstGeom>
          <a:ln w="0">
            <a:noFill/>
          </a:ln>
        </p:spPr>
      </p:pic>
      <p:sp>
        <p:nvSpPr>
          <p:cNvPr id="107" name="Text 9"/>
          <p:cNvSpPr/>
          <p:nvPr/>
        </p:nvSpPr>
        <p:spPr>
          <a:xfrm>
            <a:off x="1125720" y="2323440"/>
            <a:ext cx="8211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052cc"/>
                </a:solidFill>
                <a:latin typeface="Calibri"/>
              </a:rPr>
              <a:t>Fauzi et al. (2022)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0"/>
          <p:cNvSpPr/>
          <p:nvPr/>
        </p:nvSpPr>
        <p:spPr>
          <a:xfrm>
            <a:off x="2230560" y="2338560"/>
            <a:ext cx="1233720" cy="144360"/>
          </a:xfrm>
          <a:prstGeom prst="rect">
            <a:avLst/>
          </a:prstGeom>
          <a:solidFill>
            <a:srgbClr val="e6e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2375640" y="2338560"/>
            <a:ext cx="94320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040" rIns="68040" tIns="16920" bIns="1692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OPERATIONAL EFFICIENCY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785880" y="2555640"/>
            <a:ext cx="75718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Web-based systems significantly increase accessibility and customer reach while reducing the risks associated with hand-written rental processes.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3"/>
          <p:cNvSpPr/>
          <p:nvPr/>
        </p:nvSpPr>
        <p:spPr>
          <a:xfrm>
            <a:off x="571680" y="3180600"/>
            <a:ext cx="8000640" cy="856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14"/>
          <p:cNvSpPr/>
          <p:nvPr/>
        </p:nvSpPr>
        <p:spPr>
          <a:xfrm>
            <a:off x="571680" y="3180600"/>
            <a:ext cx="28080" cy="85680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3" name="Image 3" descr="preencoded.png"/>
          <p:cNvPicPr/>
          <p:nvPr/>
        </p:nvPicPr>
        <p:blipFill>
          <a:blip r:embed="rId4"/>
          <a:stretch/>
        </p:blipFill>
        <p:spPr>
          <a:xfrm>
            <a:off x="785880" y="3346920"/>
            <a:ext cx="160200" cy="128160"/>
          </a:xfrm>
          <a:prstGeom prst="rect">
            <a:avLst/>
          </a:prstGeom>
          <a:ln w="0">
            <a:noFill/>
          </a:ln>
        </p:spPr>
      </p:pic>
      <p:sp>
        <p:nvSpPr>
          <p:cNvPr id="114" name="Text 15"/>
          <p:cNvSpPr/>
          <p:nvPr/>
        </p:nvSpPr>
        <p:spPr>
          <a:xfrm>
            <a:off x="1216440" y="3323520"/>
            <a:ext cx="10771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052cc"/>
                </a:solidFill>
                <a:latin typeface="Calibri"/>
              </a:rPr>
              <a:t>Modern System Design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16"/>
          <p:cNvSpPr/>
          <p:nvPr/>
        </p:nvSpPr>
        <p:spPr>
          <a:xfrm>
            <a:off x="2634840" y="3338640"/>
            <a:ext cx="989640" cy="144360"/>
          </a:xfrm>
          <a:prstGeom prst="rect">
            <a:avLst/>
          </a:prstGeom>
          <a:solidFill>
            <a:srgbClr val="e6e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7"/>
          <p:cNvSpPr/>
          <p:nvPr/>
        </p:nvSpPr>
        <p:spPr>
          <a:xfrm>
            <a:off x="2737800" y="3338640"/>
            <a:ext cx="78336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040" rIns="68040" tIns="16920" bIns="1692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SAAS ARCHITECTURE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785880" y="3555720"/>
            <a:ext cx="75718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Multi-tenant SaaS architecture is recommended for shared platforms to ensure proper data isolation and scalability for independent facility owners.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19"/>
          <p:cNvSpPr/>
          <p:nvPr/>
        </p:nvSpPr>
        <p:spPr>
          <a:xfrm>
            <a:off x="571680" y="4181040"/>
            <a:ext cx="8000640" cy="856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20"/>
          <p:cNvSpPr/>
          <p:nvPr/>
        </p:nvSpPr>
        <p:spPr>
          <a:xfrm>
            <a:off x="571680" y="4181040"/>
            <a:ext cx="28080" cy="85680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" name="Image 4" descr="preencoded.png"/>
          <p:cNvPicPr/>
          <p:nvPr/>
        </p:nvPicPr>
        <p:blipFill>
          <a:blip r:embed="rId5"/>
          <a:stretch/>
        </p:blipFill>
        <p:spPr>
          <a:xfrm>
            <a:off x="785880" y="4347000"/>
            <a:ext cx="128160" cy="128160"/>
          </a:xfrm>
          <a:prstGeom prst="rect">
            <a:avLst/>
          </a:prstGeom>
          <a:ln w="0">
            <a:noFill/>
          </a:ln>
        </p:spPr>
      </p:pic>
      <p:sp>
        <p:nvSpPr>
          <p:cNvPr id="121" name="Text 21"/>
          <p:cNvSpPr/>
          <p:nvPr/>
        </p:nvSpPr>
        <p:spPr>
          <a:xfrm>
            <a:off x="1208880" y="4323600"/>
            <a:ext cx="1172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052cc"/>
                </a:solidFill>
                <a:latin typeface="Calibri"/>
              </a:rPr>
              <a:t>Machine Learning Trends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2"/>
          <p:cNvSpPr/>
          <p:nvPr/>
        </p:nvSpPr>
        <p:spPr>
          <a:xfrm>
            <a:off x="2748600" y="4339080"/>
            <a:ext cx="787320" cy="144360"/>
          </a:xfrm>
          <a:prstGeom prst="rect">
            <a:avLst/>
          </a:prstGeom>
          <a:solidFill>
            <a:srgbClr val="e6e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3"/>
          <p:cNvSpPr/>
          <p:nvPr/>
        </p:nvSpPr>
        <p:spPr>
          <a:xfrm>
            <a:off x="2830680" y="4339080"/>
            <a:ext cx="62316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8040" rIns="68040" tIns="16920" bIns="1692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AI &amp; ANALYTICS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24"/>
          <p:cNvSpPr/>
          <p:nvPr/>
        </p:nvSpPr>
        <p:spPr>
          <a:xfrm>
            <a:off x="1632960" y="4555800"/>
            <a:ext cx="58777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Increasing application of Logistic Regression and TF-IDF for sentiment analysis and text feature extraction in user engagement platforms.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26" name="Text 0"/>
          <p:cNvSpPr/>
          <p:nvPr/>
        </p:nvSpPr>
        <p:spPr>
          <a:xfrm>
            <a:off x="3089520" y="428760"/>
            <a:ext cx="35366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091e42"/>
                </a:solidFill>
                <a:latin typeface="Calibri"/>
              </a:rPr>
              <a:t>Development Methodology</a:t>
            </a:r>
            <a:endParaRPr b="0" lang="en-US" sz="2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"/>
          <p:cNvSpPr/>
          <p:nvPr/>
        </p:nvSpPr>
        <p:spPr>
          <a:xfrm>
            <a:off x="571680" y="1066320"/>
            <a:ext cx="3714480" cy="713880"/>
          </a:xfrm>
          <a:prstGeom prst="rect">
            <a:avLst/>
          </a:prstGeom>
          <a:solidFill>
            <a:srgbClr val="091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571680" y="1066320"/>
            <a:ext cx="42480" cy="7138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571680" y="1066320"/>
            <a:ext cx="37144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12760" rIns="212760" tIns="16992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ffffff"/>
                </a:solidFill>
                <a:latin typeface="Calibri"/>
              </a:rPr>
              <a:t>The project follows the </a:t>
            </a:r>
            <a:r>
              <a:rPr b="1" lang="en-US" sz="790" spc="-1" strike="noStrike">
                <a:solidFill>
                  <a:srgbClr val="0052cc"/>
                </a:solidFill>
                <a:latin typeface="Calibri"/>
              </a:rPr>
              <a:t>Agile Development Model</a:t>
            </a:r>
            <a:r>
              <a:rPr b="0" lang="en-US" sz="839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en-US" sz="689" spc="-1" strike="noStrike" baseline="30000">
                <a:solidFill>
                  <a:srgbClr val="0052cc"/>
                </a:solidFill>
                <a:latin typeface="Calibri"/>
              </a:rPr>
              <a:t>[3]</a:t>
            </a:r>
            <a:r>
              <a:rPr b="0" lang="en-US" sz="839" spc="-1" strike="noStrike">
                <a:solidFill>
                  <a:srgbClr val="ffffff"/>
                </a:solidFill>
                <a:latin typeface="Calibri"/>
              </a:rPr>
              <a:t>, emphasizing iterative progress and continuous feedback.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582120" y="1959120"/>
            <a:ext cx="788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→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782280" y="1959120"/>
            <a:ext cx="3362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91e42"/>
                </a:solidFill>
                <a:latin typeface="Calibri"/>
              </a:rPr>
              <a:t>Planning: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1398240" y="1959120"/>
            <a:ext cx="14612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Requirement gathering &amp; prioritization.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582120" y="2180520"/>
            <a:ext cx="788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→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774360" y="2180520"/>
            <a:ext cx="34992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91e42"/>
                </a:solidFill>
                <a:latin typeface="Calibri"/>
              </a:rPr>
              <a:t>Core Dev: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1370880" y="2180520"/>
            <a:ext cx="12704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Auth, Search, and Booking engine.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582120" y="2401920"/>
            <a:ext cx="788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→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783360" y="2401920"/>
            <a:ext cx="37908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91e42"/>
                </a:solidFill>
                <a:latin typeface="Calibri"/>
              </a:rPr>
              <a:t>Advanced: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1464840" y="2401920"/>
            <a:ext cx="16700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AI Sentiment &amp; Proximity Recommendations.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3"/>
          <p:cNvSpPr/>
          <p:nvPr/>
        </p:nvSpPr>
        <p:spPr>
          <a:xfrm>
            <a:off x="4572000" y="1066320"/>
            <a:ext cx="4000320" cy="2858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4"/>
          <p:cNvSpPr/>
          <p:nvPr/>
        </p:nvSpPr>
        <p:spPr>
          <a:xfrm>
            <a:off x="4572000" y="1066320"/>
            <a:ext cx="4000320" cy="28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1" name="Image 1" descr="preencoded.png"/>
          <p:cNvPicPr/>
          <p:nvPr/>
        </p:nvPicPr>
        <p:blipFill>
          <a:blip r:embed="rId2"/>
          <a:stretch/>
        </p:blipFill>
        <p:spPr>
          <a:xfrm>
            <a:off x="4964760" y="1209240"/>
            <a:ext cx="3214440" cy="2499840"/>
          </a:xfrm>
          <a:prstGeom prst="rect">
            <a:avLst/>
          </a:prstGeom>
          <a:ln w="0">
            <a:noFill/>
          </a:ln>
        </p:spPr>
      </p:pic>
      <p:sp>
        <p:nvSpPr>
          <p:cNvPr id="142" name="Text 15"/>
          <p:cNvSpPr/>
          <p:nvPr/>
        </p:nvSpPr>
        <p:spPr>
          <a:xfrm>
            <a:off x="6147000" y="3780720"/>
            <a:ext cx="84996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i="1" lang="en-US" sz="620" spc="-1" strike="noStrike">
                <a:solidFill>
                  <a:srgbClr val="42526e"/>
                </a:solidFill>
                <a:latin typeface="Calibri"/>
              </a:rPr>
              <a:t>Fig: Agile Methodology [3]</a:t>
            </a:r>
            <a:endParaRPr b="0" lang="en-US" sz="6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44" name="Text 0"/>
          <p:cNvSpPr/>
          <p:nvPr/>
        </p:nvSpPr>
        <p:spPr>
          <a:xfrm>
            <a:off x="3251520" y="428760"/>
            <a:ext cx="321228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091e42"/>
                </a:solidFill>
                <a:latin typeface="Calibri"/>
              </a:rPr>
              <a:t>Functional Requirements</a:t>
            </a:r>
            <a:endParaRPr b="0" lang="en-US" sz="2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"/>
          <p:cNvSpPr/>
          <p:nvPr/>
        </p:nvSpPr>
        <p:spPr>
          <a:xfrm>
            <a:off x="571680" y="1066320"/>
            <a:ext cx="3714480" cy="964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571680" y="1066320"/>
            <a:ext cx="28080" cy="964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7" name="Image 1" descr="preencoded.png"/>
          <p:cNvPicPr/>
          <p:nvPr/>
        </p:nvPicPr>
        <p:blipFill>
          <a:blip r:embed="rId2"/>
          <a:stretch/>
        </p:blipFill>
        <p:spPr>
          <a:xfrm>
            <a:off x="714240" y="1196640"/>
            <a:ext cx="112320" cy="128160"/>
          </a:xfrm>
          <a:prstGeom prst="rect">
            <a:avLst/>
          </a:prstGeom>
          <a:ln w="0">
            <a:noFill/>
          </a:ln>
        </p:spPr>
      </p:pic>
      <p:sp>
        <p:nvSpPr>
          <p:cNvPr id="148" name="Text 3"/>
          <p:cNvSpPr/>
          <p:nvPr/>
        </p:nvSpPr>
        <p:spPr>
          <a:xfrm>
            <a:off x="972720" y="1173240"/>
            <a:ext cx="4172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End User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711360" y="1405440"/>
            <a:ext cx="40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0052cc"/>
                </a:solidFill>
                <a:latin typeface="Calibri"/>
              </a:rPr>
              <a:t>•</a:t>
            </a:r>
            <a:endParaRPr b="0" lang="en-U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976320" y="1405440"/>
            <a:ext cx="126288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42526e"/>
                </a:solidFill>
                <a:latin typeface="Calibri"/>
              </a:rPr>
              <a:t>Search futsal by location/price/slots.</a:t>
            </a:r>
            <a:endParaRPr b="0" lang="en-U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711360" y="1571400"/>
            <a:ext cx="40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0052cc"/>
                </a:solidFill>
                <a:latin typeface="Calibri"/>
              </a:rPr>
              <a:t>•</a:t>
            </a:r>
            <a:endParaRPr b="0" lang="en-U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971280" y="1571400"/>
            <a:ext cx="121572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42526e"/>
                </a:solidFill>
                <a:latin typeface="Calibri"/>
              </a:rPr>
              <a:t>Real-time court booking &amp; reviews.</a:t>
            </a:r>
            <a:endParaRPr b="0" lang="en-U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571680" y="2137680"/>
            <a:ext cx="3714480" cy="964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571680" y="2137680"/>
            <a:ext cx="28080" cy="964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5" name="Image 2" descr="preencoded.png"/>
          <p:cNvPicPr/>
          <p:nvPr/>
        </p:nvPicPr>
        <p:blipFill>
          <a:blip r:embed="rId3"/>
          <a:stretch/>
        </p:blipFill>
        <p:spPr>
          <a:xfrm>
            <a:off x="714240" y="2268000"/>
            <a:ext cx="144360" cy="128160"/>
          </a:xfrm>
          <a:prstGeom prst="rect">
            <a:avLst/>
          </a:prstGeom>
          <a:ln w="0">
            <a:noFill/>
          </a:ln>
        </p:spPr>
      </p:pic>
      <p:sp>
        <p:nvSpPr>
          <p:cNvPr id="156" name="Text 10"/>
          <p:cNvSpPr/>
          <p:nvPr/>
        </p:nvSpPr>
        <p:spPr>
          <a:xfrm>
            <a:off x="1047240" y="2244960"/>
            <a:ext cx="6228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Futsal Owner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711360" y="2477160"/>
            <a:ext cx="40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0052cc"/>
                </a:solidFill>
                <a:latin typeface="Calibri"/>
              </a:rPr>
              <a:t>•</a:t>
            </a:r>
            <a:endParaRPr b="0" lang="en-U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2"/>
          <p:cNvSpPr/>
          <p:nvPr/>
        </p:nvSpPr>
        <p:spPr>
          <a:xfrm>
            <a:off x="977400" y="2477160"/>
            <a:ext cx="122652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42526e"/>
                </a:solidFill>
                <a:latin typeface="Calibri"/>
              </a:rPr>
              <a:t>Manage court availability &amp; pricing.</a:t>
            </a:r>
            <a:endParaRPr b="0" lang="en-U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711360" y="2642760"/>
            <a:ext cx="40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0052cc"/>
                </a:solidFill>
                <a:latin typeface="Calibri"/>
              </a:rPr>
              <a:t>•</a:t>
            </a:r>
            <a:endParaRPr b="0" lang="en-U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967680" y="2642760"/>
            <a:ext cx="114120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42526e"/>
                </a:solidFill>
                <a:latin typeface="Calibri"/>
              </a:rPr>
              <a:t>Analytics dashboard for revenue.</a:t>
            </a:r>
            <a:endParaRPr b="0" lang="en-U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5"/>
          <p:cNvSpPr/>
          <p:nvPr/>
        </p:nvSpPr>
        <p:spPr>
          <a:xfrm>
            <a:off x="571680" y="3209400"/>
            <a:ext cx="3714480" cy="964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6"/>
          <p:cNvSpPr/>
          <p:nvPr/>
        </p:nvSpPr>
        <p:spPr>
          <a:xfrm>
            <a:off x="571680" y="3209400"/>
            <a:ext cx="28080" cy="964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3" name="Image 3" descr="preencoded.png"/>
          <p:cNvPicPr/>
          <p:nvPr/>
        </p:nvPicPr>
        <p:blipFill>
          <a:blip r:embed="rId4"/>
          <a:stretch/>
        </p:blipFill>
        <p:spPr>
          <a:xfrm>
            <a:off x="714240" y="3339720"/>
            <a:ext cx="160200" cy="128160"/>
          </a:xfrm>
          <a:prstGeom prst="rect">
            <a:avLst/>
          </a:prstGeom>
          <a:ln w="0">
            <a:noFill/>
          </a:ln>
        </p:spPr>
      </p:pic>
      <p:sp>
        <p:nvSpPr>
          <p:cNvPr id="164" name="Text 17"/>
          <p:cNvSpPr/>
          <p:nvPr/>
        </p:nvSpPr>
        <p:spPr>
          <a:xfrm>
            <a:off x="1071720" y="3316320"/>
            <a:ext cx="6685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System Admin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8"/>
          <p:cNvSpPr/>
          <p:nvPr/>
        </p:nvSpPr>
        <p:spPr>
          <a:xfrm>
            <a:off x="711360" y="3548520"/>
            <a:ext cx="40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0052cc"/>
                </a:solidFill>
                <a:latin typeface="Calibri"/>
              </a:rPr>
              <a:t>•</a:t>
            </a:r>
            <a:endParaRPr b="0" lang="en-U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9"/>
          <p:cNvSpPr/>
          <p:nvPr/>
        </p:nvSpPr>
        <p:spPr>
          <a:xfrm>
            <a:off x="959400" y="3548520"/>
            <a:ext cx="108468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42526e"/>
                </a:solidFill>
                <a:latin typeface="Calibri"/>
              </a:rPr>
              <a:t>Manage multi-tenant accounts.</a:t>
            </a:r>
            <a:endParaRPr b="0" lang="en-U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20"/>
          <p:cNvSpPr/>
          <p:nvPr/>
        </p:nvSpPr>
        <p:spPr>
          <a:xfrm>
            <a:off x="711360" y="3714480"/>
            <a:ext cx="406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0052cc"/>
                </a:solidFill>
                <a:latin typeface="Calibri"/>
              </a:rPr>
              <a:t>•</a:t>
            </a:r>
            <a:endParaRPr b="0" lang="en-U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1"/>
          <p:cNvSpPr/>
          <p:nvPr/>
        </p:nvSpPr>
        <p:spPr>
          <a:xfrm>
            <a:off x="975240" y="3714480"/>
            <a:ext cx="117612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42526e"/>
                </a:solidFill>
                <a:latin typeface="Calibri"/>
              </a:rPr>
              <a:t>System monitoring &amp; moderation.</a:t>
            </a:r>
            <a:endParaRPr b="0" lang="en-U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22"/>
          <p:cNvSpPr/>
          <p:nvPr/>
        </p:nvSpPr>
        <p:spPr>
          <a:xfrm>
            <a:off x="4572000" y="1066320"/>
            <a:ext cx="4000320" cy="3359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23"/>
          <p:cNvSpPr/>
          <p:nvPr/>
        </p:nvSpPr>
        <p:spPr>
          <a:xfrm>
            <a:off x="4572000" y="1066320"/>
            <a:ext cx="4000320" cy="28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1" name="Image 4" descr="preencoded.png"/>
          <p:cNvPicPr/>
          <p:nvPr/>
        </p:nvPicPr>
        <p:blipFill>
          <a:blip r:embed="rId5"/>
          <a:stretch/>
        </p:blipFill>
        <p:spPr>
          <a:xfrm>
            <a:off x="4964760" y="1209240"/>
            <a:ext cx="3214440" cy="2999880"/>
          </a:xfrm>
          <a:prstGeom prst="rect">
            <a:avLst/>
          </a:prstGeom>
          <a:ln w="0">
            <a:noFill/>
          </a:ln>
        </p:spPr>
      </p:pic>
      <p:sp>
        <p:nvSpPr>
          <p:cNvPr id="172" name="Text 24"/>
          <p:cNvSpPr/>
          <p:nvPr/>
        </p:nvSpPr>
        <p:spPr>
          <a:xfrm>
            <a:off x="5799600" y="4280760"/>
            <a:ext cx="154476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i="1" lang="en-US" sz="620" spc="-1" strike="noStrike">
                <a:solidFill>
                  <a:srgbClr val="42526e"/>
                </a:solidFill>
                <a:latin typeface="Calibri"/>
              </a:rPr>
              <a:t>Fig: Use case diagram for Futsal Booking System</a:t>
            </a:r>
            <a:endParaRPr b="0" lang="en-US" sz="6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74" name="Text 0"/>
          <p:cNvSpPr/>
          <p:nvPr/>
        </p:nvSpPr>
        <p:spPr>
          <a:xfrm>
            <a:off x="2936160" y="428760"/>
            <a:ext cx="384300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091e42"/>
                </a:solidFill>
                <a:latin typeface="Calibri"/>
              </a:rPr>
              <a:t>Non-Functional Requirements</a:t>
            </a:r>
            <a:endParaRPr b="0" lang="en-US" sz="2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"/>
          <p:cNvSpPr/>
          <p:nvPr/>
        </p:nvSpPr>
        <p:spPr>
          <a:xfrm>
            <a:off x="571680" y="1180440"/>
            <a:ext cx="3893040" cy="1814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571680" y="1180440"/>
            <a:ext cx="3893040" cy="28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785880" y="1394640"/>
            <a:ext cx="285480" cy="285480"/>
          </a:xfrm>
          <a:prstGeom prst="rect">
            <a:avLst/>
          </a:prstGeom>
          <a:solidFill>
            <a:srgbClr val="f4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Image 1" descr="preencoded.png"/>
          <p:cNvPicPr/>
          <p:nvPr/>
        </p:nvPicPr>
        <p:blipFill>
          <a:blip r:embed="rId2"/>
          <a:stretch/>
        </p:blipFill>
        <p:spPr>
          <a:xfrm>
            <a:off x="864360" y="1451880"/>
            <a:ext cx="128160" cy="171000"/>
          </a:xfrm>
          <a:prstGeom prst="rect">
            <a:avLst/>
          </a:prstGeom>
          <a:ln w="0">
            <a:noFill/>
          </a:ln>
        </p:spPr>
      </p:pic>
      <p:sp>
        <p:nvSpPr>
          <p:cNvPr id="179" name="Text 4"/>
          <p:cNvSpPr/>
          <p:nvPr/>
        </p:nvSpPr>
        <p:spPr>
          <a:xfrm>
            <a:off x="1317600" y="1430640"/>
            <a:ext cx="7401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90" spc="-1" strike="noStrike">
                <a:solidFill>
                  <a:srgbClr val="091e42"/>
                </a:solidFill>
                <a:latin typeface="Calibri"/>
              </a:rPr>
              <a:t>Performance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785880" y="1787760"/>
            <a:ext cx="3464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Ensuring </a:t>
            </a:r>
            <a:r>
              <a:rPr b="1" lang="en-US" sz="790" spc="-1" strike="noStrike">
                <a:solidFill>
                  <a:srgbClr val="0052cc"/>
                </a:solidFill>
                <a:latin typeface="Calibri"/>
              </a:rPr>
              <a:t>real-time availability</a:t>
            </a: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 checks and high-speed response times for booking confirmations and slot validations.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6"/>
          <p:cNvSpPr/>
          <p:nvPr/>
        </p:nvSpPr>
        <p:spPr>
          <a:xfrm>
            <a:off x="4679280" y="1180440"/>
            <a:ext cx="3893040" cy="1814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7"/>
          <p:cNvSpPr/>
          <p:nvPr/>
        </p:nvSpPr>
        <p:spPr>
          <a:xfrm>
            <a:off x="4679280" y="1180440"/>
            <a:ext cx="3893040" cy="28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8"/>
          <p:cNvSpPr/>
          <p:nvPr/>
        </p:nvSpPr>
        <p:spPr>
          <a:xfrm>
            <a:off x="4893480" y="1394640"/>
            <a:ext cx="285480" cy="285480"/>
          </a:xfrm>
          <a:prstGeom prst="rect">
            <a:avLst/>
          </a:prstGeom>
          <a:solidFill>
            <a:srgbClr val="f4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Image 2" descr="preencoded.png"/>
          <p:cNvPicPr/>
          <p:nvPr/>
        </p:nvPicPr>
        <p:blipFill>
          <a:blip r:embed="rId3"/>
          <a:stretch/>
        </p:blipFill>
        <p:spPr>
          <a:xfrm>
            <a:off x="4961160" y="1451880"/>
            <a:ext cx="149760" cy="171000"/>
          </a:xfrm>
          <a:prstGeom prst="rect">
            <a:avLst/>
          </a:prstGeom>
          <a:ln w="0">
            <a:noFill/>
          </a:ln>
        </p:spPr>
      </p:pic>
      <p:sp>
        <p:nvSpPr>
          <p:cNvPr id="185" name="Text 9"/>
          <p:cNvSpPr/>
          <p:nvPr/>
        </p:nvSpPr>
        <p:spPr>
          <a:xfrm>
            <a:off x="5396760" y="1430640"/>
            <a:ext cx="5846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90" spc="-1" strike="noStrike">
                <a:solidFill>
                  <a:srgbClr val="091e42"/>
                </a:solidFill>
                <a:latin typeface="Calibri"/>
              </a:rPr>
              <a:t>Scalability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4893480" y="1787760"/>
            <a:ext cx="3464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A robust </a:t>
            </a:r>
            <a:r>
              <a:rPr b="1" lang="en-US" sz="790" spc="-1" strike="noStrike">
                <a:solidFill>
                  <a:srgbClr val="0052cc"/>
                </a:solidFill>
                <a:latin typeface="Calibri"/>
              </a:rPr>
              <a:t>multi-tenant architecture</a:t>
            </a: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 designed to handle a growing number of futsal centers and concurrent users seamlessly.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1"/>
          <p:cNvSpPr/>
          <p:nvPr/>
        </p:nvSpPr>
        <p:spPr>
          <a:xfrm>
            <a:off x="571680" y="3180600"/>
            <a:ext cx="3893040" cy="1814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571680" y="3180600"/>
            <a:ext cx="3893040" cy="28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13"/>
          <p:cNvSpPr/>
          <p:nvPr/>
        </p:nvSpPr>
        <p:spPr>
          <a:xfrm>
            <a:off x="785880" y="3395160"/>
            <a:ext cx="285480" cy="285480"/>
          </a:xfrm>
          <a:prstGeom prst="rect">
            <a:avLst/>
          </a:prstGeom>
          <a:solidFill>
            <a:srgbClr val="f4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Image 3" descr="preencoded.png"/>
          <p:cNvPicPr/>
          <p:nvPr/>
        </p:nvPicPr>
        <p:blipFill>
          <a:blip r:embed="rId4"/>
          <a:stretch/>
        </p:blipFill>
        <p:spPr>
          <a:xfrm>
            <a:off x="843120" y="345204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191" name="Text 14"/>
          <p:cNvSpPr/>
          <p:nvPr/>
        </p:nvSpPr>
        <p:spPr>
          <a:xfrm>
            <a:off x="1265760" y="3430800"/>
            <a:ext cx="4658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90" spc="-1" strike="noStrike">
                <a:solidFill>
                  <a:srgbClr val="091e42"/>
                </a:solidFill>
                <a:latin typeface="Calibri"/>
              </a:rPr>
              <a:t>Security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785880" y="3787920"/>
            <a:ext cx="3464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Implementation of </a:t>
            </a:r>
            <a:r>
              <a:rPr b="1" lang="en-US" sz="790" spc="-1" strike="noStrike">
                <a:solidFill>
                  <a:srgbClr val="0052cc"/>
                </a:solidFill>
                <a:latin typeface="Calibri"/>
              </a:rPr>
              <a:t>JWT authentication</a:t>
            </a: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 and strict data isolation between tenants to ensure privacy and data integrity.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6"/>
          <p:cNvSpPr/>
          <p:nvPr/>
        </p:nvSpPr>
        <p:spPr>
          <a:xfrm>
            <a:off x="4679280" y="3180600"/>
            <a:ext cx="3893040" cy="1814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7"/>
          <p:cNvSpPr/>
          <p:nvPr/>
        </p:nvSpPr>
        <p:spPr>
          <a:xfrm>
            <a:off x="4679280" y="3180600"/>
            <a:ext cx="3893040" cy="28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18"/>
          <p:cNvSpPr/>
          <p:nvPr/>
        </p:nvSpPr>
        <p:spPr>
          <a:xfrm>
            <a:off x="4893480" y="3395160"/>
            <a:ext cx="285480" cy="285480"/>
          </a:xfrm>
          <a:prstGeom prst="rect">
            <a:avLst/>
          </a:prstGeom>
          <a:solidFill>
            <a:srgbClr val="f4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6" name="Image 4" descr="preencoded.png"/>
          <p:cNvPicPr/>
          <p:nvPr/>
        </p:nvPicPr>
        <p:blipFill>
          <a:blip r:embed="rId5"/>
          <a:stretch/>
        </p:blipFill>
        <p:spPr>
          <a:xfrm>
            <a:off x="4971960" y="3452040"/>
            <a:ext cx="128160" cy="171000"/>
          </a:xfrm>
          <a:prstGeom prst="rect">
            <a:avLst/>
          </a:prstGeom>
          <a:ln w="0">
            <a:noFill/>
          </a:ln>
        </p:spPr>
      </p:pic>
      <p:sp>
        <p:nvSpPr>
          <p:cNvPr id="197" name="Text 19"/>
          <p:cNvSpPr/>
          <p:nvPr/>
        </p:nvSpPr>
        <p:spPr>
          <a:xfrm>
            <a:off x="5379480" y="3430800"/>
            <a:ext cx="505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90" spc="-1" strike="noStrike">
                <a:solidFill>
                  <a:srgbClr val="091e42"/>
                </a:solidFill>
                <a:latin typeface="Calibri"/>
              </a:rPr>
              <a:t>Usability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20"/>
          <p:cNvSpPr/>
          <p:nvPr/>
        </p:nvSpPr>
        <p:spPr>
          <a:xfrm>
            <a:off x="4893480" y="3787920"/>
            <a:ext cx="34642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A </a:t>
            </a:r>
            <a:r>
              <a:rPr b="1" lang="en-US" sz="790" spc="-1" strike="noStrike">
                <a:solidFill>
                  <a:srgbClr val="0052cc"/>
                </a:solidFill>
                <a:latin typeface="Calibri"/>
              </a:rPr>
              <a:t>mobile-responsive</a:t>
            </a:r>
            <a:r>
              <a:rPr b="0" lang="en-US" sz="839" spc="-1" strike="noStrike">
                <a:solidFill>
                  <a:srgbClr val="42526e"/>
                </a:solidFill>
                <a:latin typeface="Calibri"/>
              </a:rPr>
              <a:t> design ensuring a consistent and intuitive user experience across all devices and screen sizes.</a:t>
            </a:r>
            <a:endParaRPr b="0" lang="en-US" sz="83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00" name="Text 0"/>
          <p:cNvSpPr/>
          <p:nvPr/>
        </p:nvSpPr>
        <p:spPr>
          <a:xfrm>
            <a:off x="3587760" y="428760"/>
            <a:ext cx="254016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091e42"/>
                </a:solidFill>
                <a:latin typeface="Calibri"/>
              </a:rPr>
              <a:t>Technical Feasibility</a:t>
            </a:r>
            <a:endParaRPr b="0" lang="en-US" sz="2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"/>
          <p:cNvSpPr/>
          <p:nvPr/>
        </p:nvSpPr>
        <p:spPr>
          <a:xfrm>
            <a:off x="571680" y="1180440"/>
            <a:ext cx="1892880" cy="3250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"/>
          <p:cNvSpPr/>
          <p:nvPr/>
        </p:nvSpPr>
        <p:spPr>
          <a:xfrm>
            <a:off x="571680" y="1180440"/>
            <a:ext cx="1892880" cy="352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360" bIns="-9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1303560" y="1394640"/>
            <a:ext cx="428400" cy="428400"/>
          </a:xfrm>
          <a:prstGeom prst="rect">
            <a:avLst/>
          </a:prstGeom>
          <a:solidFill>
            <a:srgbClr val="091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4" name="Image 1" descr="preencoded.png"/>
          <p:cNvPicPr/>
          <p:nvPr/>
        </p:nvPicPr>
        <p:blipFill>
          <a:blip r:embed="rId2"/>
          <a:stretch/>
        </p:blipFill>
        <p:spPr>
          <a:xfrm>
            <a:off x="1393200" y="1509120"/>
            <a:ext cx="249840" cy="199800"/>
          </a:xfrm>
          <a:prstGeom prst="rect">
            <a:avLst/>
          </a:prstGeom>
          <a:ln w="0">
            <a:noFill/>
          </a:ln>
        </p:spPr>
      </p:pic>
      <p:sp>
        <p:nvSpPr>
          <p:cNvPr id="205" name="Text 4"/>
          <p:cNvSpPr/>
          <p:nvPr/>
        </p:nvSpPr>
        <p:spPr>
          <a:xfrm>
            <a:off x="1255680" y="2001960"/>
            <a:ext cx="5238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90" spc="-1" strike="noStrike">
                <a:solidFill>
                  <a:srgbClr val="091e42"/>
                </a:solidFill>
                <a:latin typeface="Calibri"/>
              </a:rPr>
              <a:t>Frontend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748800" y="2359080"/>
            <a:ext cx="378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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950400" y="2360880"/>
            <a:ext cx="301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730" spc="-1" strike="noStrike">
                <a:solidFill>
                  <a:srgbClr val="0052cc"/>
                </a:solidFill>
                <a:latin typeface="Calibri"/>
              </a:rPr>
              <a:t>React.js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1400040" y="2360880"/>
            <a:ext cx="589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for dynamic UI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8"/>
          <p:cNvSpPr/>
          <p:nvPr/>
        </p:nvSpPr>
        <p:spPr>
          <a:xfrm>
            <a:off x="748800" y="2594880"/>
            <a:ext cx="378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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892800" y="2596680"/>
            <a:ext cx="11080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Responsive design for mobile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748800" y="2980800"/>
            <a:ext cx="378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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1033560" y="2982600"/>
            <a:ext cx="11152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JWT-based session handling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12"/>
          <p:cNvSpPr/>
          <p:nvPr/>
        </p:nvSpPr>
        <p:spPr>
          <a:xfrm>
            <a:off x="2607480" y="1180440"/>
            <a:ext cx="1892880" cy="3250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13"/>
          <p:cNvSpPr/>
          <p:nvPr/>
        </p:nvSpPr>
        <p:spPr>
          <a:xfrm>
            <a:off x="2607480" y="1180440"/>
            <a:ext cx="1892880" cy="352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360" bIns="-9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14"/>
          <p:cNvSpPr/>
          <p:nvPr/>
        </p:nvSpPr>
        <p:spPr>
          <a:xfrm>
            <a:off x="3339720" y="1394640"/>
            <a:ext cx="428400" cy="428400"/>
          </a:xfrm>
          <a:prstGeom prst="rect">
            <a:avLst/>
          </a:prstGeom>
          <a:solidFill>
            <a:srgbClr val="091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6" name="Image 2" descr="preencoded.png"/>
          <p:cNvPicPr/>
          <p:nvPr/>
        </p:nvPicPr>
        <p:blipFill>
          <a:blip r:embed="rId3"/>
          <a:stretch/>
        </p:blipFill>
        <p:spPr>
          <a:xfrm>
            <a:off x="3453840" y="1509120"/>
            <a:ext cx="199800" cy="199800"/>
          </a:xfrm>
          <a:prstGeom prst="rect">
            <a:avLst/>
          </a:prstGeom>
          <a:ln w="0">
            <a:noFill/>
          </a:ln>
        </p:spPr>
      </p:pic>
      <p:sp>
        <p:nvSpPr>
          <p:cNvPr id="217" name="Text 15"/>
          <p:cNvSpPr/>
          <p:nvPr/>
        </p:nvSpPr>
        <p:spPr>
          <a:xfrm>
            <a:off x="3310920" y="2001960"/>
            <a:ext cx="4856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90" spc="-1" strike="noStrike">
                <a:solidFill>
                  <a:srgbClr val="091e42"/>
                </a:solidFill>
                <a:latin typeface="Calibri"/>
              </a:rPr>
              <a:t>Backend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6"/>
          <p:cNvSpPr/>
          <p:nvPr/>
        </p:nvSpPr>
        <p:spPr>
          <a:xfrm>
            <a:off x="2784960" y="2359080"/>
            <a:ext cx="378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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7"/>
          <p:cNvSpPr/>
          <p:nvPr/>
        </p:nvSpPr>
        <p:spPr>
          <a:xfrm>
            <a:off x="3053880" y="2360880"/>
            <a:ext cx="6930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730" spc="-1" strike="noStrike">
                <a:solidFill>
                  <a:srgbClr val="0052cc"/>
                </a:solidFill>
                <a:latin typeface="Calibri"/>
              </a:rPr>
              <a:t>Node.js &amp; Express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8"/>
          <p:cNvSpPr/>
          <p:nvPr/>
        </p:nvSpPr>
        <p:spPr>
          <a:xfrm>
            <a:off x="2784960" y="2594880"/>
            <a:ext cx="378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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19"/>
          <p:cNvSpPr/>
          <p:nvPr/>
        </p:nvSpPr>
        <p:spPr>
          <a:xfrm>
            <a:off x="3072240" y="2596680"/>
            <a:ext cx="1090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Scalable RESTful API design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20"/>
          <p:cNvSpPr/>
          <p:nvPr/>
        </p:nvSpPr>
        <p:spPr>
          <a:xfrm>
            <a:off x="2784960" y="2830680"/>
            <a:ext cx="378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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21"/>
          <p:cNvSpPr/>
          <p:nvPr/>
        </p:nvSpPr>
        <p:spPr>
          <a:xfrm>
            <a:off x="3056760" y="2832480"/>
            <a:ext cx="1075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Multi-tenant data isolation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22"/>
          <p:cNvSpPr/>
          <p:nvPr/>
        </p:nvSpPr>
        <p:spPr>
          <a:xfrm>
            <a:off x="4643280" y="1180440"/>
            <a:ext cx="1892880" cy="3250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23"/>
          <p:cNvSpPr/>
          <p:nvPr/>
        </p:nvSpPr>
        <p:spPr>
          <a:xfrm>
            <a:off x="4643280" y="1180440"/>
            <a:ext cx="1892880" cy="352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360" bIns="-9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24"/>
          <p:cNvSpPr/>
          <p:nvPr/>
        </p:nvSpPr>
        <p:spPr>
          <a:xfrm>
            <a:off x="5375520" y="1394640"/>
            <a:ext cx="428400" cy="428400"/>
          </a:xfrm>
          <a:prstGeom prst="rect">
            <a:avLst/>
          </a:prstGeom>
          <a:solidFill>
            <a:srgbClr val="091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7" name="Image 3" descr="preencoded.png"/>
          <p:cNvPicPr/>
          <p:nvPr/>
        </p:nvPicPr>
        <p:blipFill>
          <a:blip r:embed="rId4"/>
          <a:stretch/>
        </p:blipFill>
        <p:spPr>
          <a:xfrm>
            <a:off x="5502600" y="1509120"/>
            <a:ext cx="174600" cy="199800"/>
          </a:xfrm>
          <a:prstGeom prst="rect">
            <a:avLst/>
          </a:prstGeom>
          <a:ln w="0">
            <a:noFill/>
          </a:ln>
        </p:spPr>
      </p:pic>
      <p:sp>
        <p:nvSpPr>
          <p:cNvPr id="228" name="Text 25"/>
          <p:cNvSpPr/>
          <p:nvPr/>
        </p:nvSpPr>
        <p:spPr>
          <a:xfrm>
            <a:off x="5285160" y="2001960"/>
            <a:ext cx="6091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90" spc="-1" strike="noStrike">
                <a:solidFill>
                  <a:srgbClr val="091e42"/>
                </a:solidFill>
                <a:latin typeface="Calibri"/>
              </a:rPr>
              <a:t>Data Layer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26"/>
          <p:cNvSpPr/>
          <p:nvPr/>
        </p:nvSpPr>
        <p:spPr>
          <a:xfrm>
            <a:off x="4820760" y="2359080"/>
            <a:ext cx="378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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27"/>
          <p:cNvSpPr/>
          <p:nvPr/>
        </p:nvSpPr>
        <p:spPr>
          <a:xfrm>
            <a:off x="5011560" y="2360880"/>
            <a:ext cx="2725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730" spc="-1" strike="noStrike">
                <a:solidFill>
                  <a:srgbClr val="0052cc"/>
                </a:solidFill>
                <a:latin typeface="Calibri"/>
              </a:rPr>
              <a:t>MySQL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28"/>
          <p:cNvSpPr/>
          <p:nvPr/>
        </p:nvSpPr>
        <p:spPr>
          <a:xfrm>
            <a:off x="5423760" y="2360880"/>
            <a:ext cx="5954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for persistence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29"/>
          <p:cNvSpPr/>
          <p:nvPr/>
        </p:nvSpPr>
        <p:spPr>
          <a:xfrm>
            <a:off x="4820760" y="2594880"/>
            <a:ext cx="378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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30"/>
          <p:cNvSpPr/>
          <p:nvPr/>
        </p:nvSpPr>
        <p:spPr>
          <a:xfrm>
            <a:off x="5004360" y="2596680"/>
            <a:ext cx="2084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730" spc="-1" strike="noStrike">
                <a:solidFill>
                  <a:srgbClr val="0052cc"/>
                </a:solidFill>
                <a:latin typeface="Calibri"/>
              </a:rPr>
              <a:t>Redis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31"/>
          <p:cNvSpPr/>
          <p:nvPr/>
        </p:nvSpPr>
        <p:spPr>
          <a:xfrm>
            <a:off x="5347800" y="2596680"/>
            <a:ext cx="610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for slot caching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32"/>
          <p:cNvSpPr/>
          <p:nvPr/>
        </p:nvSpPr>
        <p:spPr>
          <a:xfrm>
            <a:off x="4820760" y="2830680"/>
            <a:ext cx="378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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33"/>
          <p:cNvSpPr/>
          <p:nvPr/>
        </p:nvSpPr>
        <p:spPr>
          <a:xfrm>
            <a:off x="5091120" y="2832480"/>
            <a:ext cx="9687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Cloud-based file storage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34"/>
          <p:cNvSpPr/>
          <p:nvPr/>
        </p:nvSpPr>
        <p:spPr>
          <a:xfrm>
            <a:off x="6679440" y="1180440"/>
            <a:ext cx="1892880" cy="3250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5"/>
          <p:cNvSpPr/>
          <p:nvPr/>
        </p:nvSpPr>
        <p:spPr>
          <a:xfrm>
            <a:off x="6679440" y="1180440"/>
            <a:ext cx="1892880" cy="352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360" bIns="-9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36"/>
          <p:cNvSpPr/>
          <p:nvPr/>
        </p:nvSpPr>
        <p:spPr>
          <a:xfrm>
            <a:off x="7411680" y="1394640"/>
            <a:ext cx="428400" cy="428400"/>
          </a:xfrm>
          <a:prstGeom prst="rect">
            <a:avLst/>
          </a:prstGeom>
          <a:solidFill>
            <a:srgbClr val="091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0" name="Image 4" descr="preencoded.png"/>
          <p:cNvPicPr/>
          <p:nvPr/>
        </p:nvPicPr>
        <p:blipFill>
          <a:blip r:embed="rId5"/>
          <a:stretch/>
        </p:blipFill>
        <p:spPr>
          <a:xfrm>
            <a:off x="7525800" y="1509120"/>
            <a:ext cx="199800" cy="199800"/>
          </a:xfrm>
          <a:prstGeom prst="rect">
            <a:avLst/>
          </a:prstGeom>
          <a:ln w="0">
            <a:noFill/>
          </a:ln>
        </p:spPr>
      </p:pic>
      <p:sp>
        <p:nvSpPr>
          <p:cNvPr id="241" name="Text 37"/>
          <p:cNvSpPr/>
          <p:nvPr/>
        </p:nvSpPr>
        <p:spPr>
          <a:xfrm>
            <a:off x="7395120" y="2001960"/>
            <a:ext cx="4611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90" spc="-1" strike="noStrike">
                <a:solidFill>
                  <a:srgbClr val="091e42"/>
                </a:solidFill>
                <a:latin typeface="Calibri"/>
              </a:rPr>
              <a:t>AI &amp; ML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38"/>
          <p:cNvSpPr/>
          <p:nvPr/>
        </p:nvSpPr>
        <p:spPr>
          <a:xfrm>
            <a:off x="6856920" y="2359080"/>
            <a:ext cx="378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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9"/>
          <p:cNvSpPr/>
          <p:nvPr/>
        </p:nvSpPr>
        <p:spPr>
          <a:xfrm>
            <a:off x="7053120" y="2360880"/>
            <a:ext cx="276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730" spc="-1" strike="noStrike">
                <a:solidFill>
                  <a:srgbClr val="0052cc"/>
                </a:solidFill>
                <a:latin typeface="Calibri"/>
              </a:rPr>
              <a:t>Python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40"/>
          <p:cNvSpPr/>
          <p:nvPr/>
        </p:nvSpPr>
        <p:spPr>
          <a:xfrm>
            <a:off x="7463880" y="2360880"/>
            <a:ext cx="502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NLP libraries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41"/>
          <p:cNvSpPr/>
          <p:nvPr/>
        </p:nvSpPr>
        <p:spPr>
          <a:xfrm>
            <a:off x="6856920" y="2594880"/>
            <a:ext cx="378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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42"/>
          <p:cNvSpPr/>
          <p:nvPr/>
        </p:nvSpPr>
        <p:spPr>
          <a:xfrm>
            <a:off x="7141680" y="2596680"/>
            <a:ext cx="1032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Logistic Regression model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43"/>
          <p:cNvSpPr/>
          <p:nvPr/>
        </p:nvSpPr>
        <p:spPr>
          <a:xfrm>
            <a:off x="6856920" y="2830680"/>
            <a:ext cx="378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</a:t>
            </a:r>
            <a:endParaRPr b="0" lang="en-US" sz="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44"/>
          <p:cNvSpPr/>
          <p:nvPr/>
        </p:nvSpPr>
        <p:spPr>
          <a:xfrm>
            <a:off x="7116480" y="2832480"/>
            <a:ext cx="8834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42526e"/>
                </a:solidFill>
                <a:latin typeface="Calibri"/>
              </a:rPr>
              <a:t>TF-IDF text processing</a:t>
            </a:r>
            <a:endParaRPr b="0" lang="en-US" sz="7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50" name="Text 0"/>
          <p:cNvSpPr/>
          <p:nvPr/>
        </p:nvSpPr>
        <p:spPr>
          <a:xfrm>
            <a:off x="3228120" y="428760"/>
            <a:ext cx="32594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091e42"/>
                </a:solidFill>
                <a:latin typeface="Calibri"/>
              </a:rPr>
              <a:t>High-Level System Design</a:t>
            </a:r>
            <a:endParaRPr b="0" lang="en-US" sz="2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"/>
          <p:cNvSpPr/>
          <p:nvPr/>
        </p:nvSpPr>
        <p:spPr>
          <a:xfrm>
            <a:off x="571680" y="1066320"/>
            <a:ext cx="3714480" cy="1213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2"/>
          <p:cNvSpPr/>
          <p:nvPr/>
        </p:nvSpPr>
        <p:spPr>
          <a:xfrm>
            <a:off x="571680" y="1066320"/>
            <a:ext cx="28080" cy="121392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3" name="Image 1" descr="preencoded.png"/>
          <p:cNvPicPr/>
          <p:nvPr/>
        </p:nvPicPr>
        <p:blipFill>
          <a:blip r:embed="rId2"/>
          <a:stretch/>
        </p:blipFill>
        <p:spPr>
          <a:xfrm>
            <a:off x="714240" y="1232280"/>
            <a:ext cx="144360" cy="128160"/>
          </a:xfrm>
          <a:prstGeom prst="rect">
            <a:avLst/>
          </a:prstGeom>
          <a:ln w="0">
            <a:noFill/>
          </a:ln>
        </p:spPr>
      </p:pic>
      <p:sp>
        <p:nvSpPr>
          <p:cNvPr id="254" name="Text 3"/>
          <p:cNvSpPr/>
          <p:nvPr/>
        </p:nvSpPr>
        <p:spPr>
          <a:xfrm>
            <a:off x="1042200" y="1209240"/>
            <a:ext cx="5803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Architecture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4"/>
          <p:cNvSpPr/>
          <p:nvPr/>
        </p:nvSpPr>
        <p:spPr>
          <a:xfrm>
            <a:off x="714240" y="1455480"/>
            <a:ext cx="342864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-US" sz="670" spc="-1" strike="noStrike">
                <a:solidFill>
                  <a:srgbClr val="42526e"/>
                </a:solidFill>
                <a:latin typeface="Calibri"/>
              </a:rPr>
              <a:t>Multi-tenant SaaS structure with React Frontend and Node.js Backend. API-driven communication.</a:t>
            </a:r>
            <a:endParaRPr b="0" lang="en-US" sz="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5"/>
          <p:cNvSpPr/>
          <p:nvPr/>
        </p:nvSpPr>
        <p:spPr>
          <a:xfrm>
            <a:off x="571680" y="2423520"/>
            <a:ext cx="3714480" cy="1213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6"/>
          <p:cNvSpPr/>
          <p:nvPr/>
        </p:nvSpPr>
        <p:spPr>
          <a:xfrm>
            <a:off x="571680" y="2423520"/>
            <a:ext cx="28080" cy="121392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8" name="Image 2" descr="preencoded.png"/>
          <p:cNvPicPr/>
          <p:nvPr/>
        </p:nvPicPr>
        <p:blipFill>
          <a:blip r:embed="rId3"/>
          <a:stretch/>
        </p:blipFill>
        <p:spPr>
          <a:xfrm>
            <a:off x="714240" y="2589480"/>
            <a:ext cx="128160" cy="128160"/>
          </a:xfrm>
          <a:prstGeom prst="rect">
            <a:avLst/>
          </a:prstGeom>
          <a:ln w="0">
            <a:noFill/>
          </a:ln>
        </p:spPr>
      </p:pic>
      <p:sp>
        <p:nvSpPr>
          <p:cNvPr id="259" name="Text 7"/>
          <p:cNvSpPr/>
          <p:nvPr/>
        </p:nvSpPr>
        <p:spPr>
          <a:xfrm>
            <a:off x="1058040" y="2566440"/>
            <a:ext cx="7556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Core Algorithms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8"/>
          <p:cNvSpPr/>
          <p:nvPr/>
        </p:nvSpPr>
        <p:spPr>
          <a:xfrm>
            <a:off x="714240" y="2812680"/>
            <a:ext cx="3428640" cy="199800"/>
          </a:xfrm>
          <a:prstGeom prst="rect">
            <a:avLst/>
          </a:prstGeom>
          <a:solidFill>
            <a:srgbClr val="091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9"/>
          <p:cNvSpPr/>
          <p:nvPr/>
        </p:nvSpPr>
        <p:spPr>
          <a:xfrm>
            <a:off x="714240" y="2812680"/>
            <a:ext cx="21240" cy="19980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10"/>
          <p:cNvSpPr/>
          <p:nvPr/>
        </p:nvSpPr>
        <p:spPr>
          <a:xfrm>
            <a:off x="714240" y="2812680"/>
            <a:ext cx="342864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496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Slot Conflict Prevention:</a:t>
            </a:r>
            <a:r>
              <a:rPr b="0" lang="en-US" sz="620" spc="-1" strike="noStrike">
                <a:solidFill>
                  <a:srgbClr val="f4f5f7"/>
                </a:solidFill>
                <a:latin typeface="Calibri"/>
              </a:rPr>
              <a:t> Ensures no overlapping bookings.</a:t>
            </a:r>
            <a:endParaRPr b="0" lang="en-US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11"/>
          <p:cNvSpPr/>
          <p:nvPr/>
        </p:nvSpPr>
        <p:spPr>
          <a:xfrm>
            <a:off x="714240" y="3084480"/>
            <a:ext cx="3428640" cy="199800"/>
          </a:xfrm>
          <a:prstGeom prst="rect">
            <a:avLst/>
          </a:prstGeom>
          <a:solidFill>
            <a:srgbClr val="091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Shape 12"/>
          <p:cNvSpPr/>
          <p:nvPr/>
        </p:nvSpPr>
        <p:spPr>
          <a:xfrm>
            <a:off x="714240" y="3084480"/>
            <a:ext cx="21240" cy="19980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13"/>
          <p:cNvSpPr/>
          <p:nvPr/>
        </p:nvSpPr>
        <p:spPr>
          <a:xfrm>
            <a:off x="714240" y="3084480"/>
            <a:ext cx="342864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84960" bIns="0" anchor="t">
            <a:sp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-US" sz="580" spc="-1" strike="noStrike">
                <a:solidFill>
                  <a:srgbClr val="0052cc"/>
                </a:solidFill>
                <a:latin typeface="Calibri"/>
              </a:rPr>
              <a:t>Sentiment Analysis:</a:t>
            </a:r>
            <a:r>
              <a:rPr b="0" lang="en-US" sz="620" spc="-1" strike="noStrike">
                <a:solidFill>
                  <a:srgbClr val="f4f5f7"/>
                </a:solidFill>
                <a:latin typeface="Calibri"/>
              </a:rPr>
              <a:t> Logistic Regression for reviews.</a:t>
            </a:r>
            <a:endParaRPr b="0" lang="en-US" sz="6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14"/>
          <p:cNvSpPr/>
          <p:nvPr/>
        </p:nvSpPr>
        <p:spPr>
          <a:xfrm>
            <a:off x="4572000" y="1066320"/>
            <a:ext cx="4000320" cy="3573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15"/>
          <p:cNvSpPr/>
          <p:nvPr/>
        </p:nvSpPr>
        <p:spPr>
          <a:xfrm>
            <a:off x="4572000" y="1066320"/>
            <a:ext cx="4000320" cy="280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6560" bIns="-165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8" name="Image 3" descr="preencoded.png"/>
          <p:cNvPicPr/>
          <p:nvPr/>
        </p:nvPicPr>
        <p:blipFill>
          <a:blip r:embed="rId4"/>
          <a:stretch/>
        </p:blipFill>
        <p:spPr>
          <a:xfrm>
            <a:off x="4964760" y="1209240"/>
            <a:ext cx="3214440" cy="3214440"/>
          </a:xfrm>
          <a:prstGeom prst="rect">
            <a:avLst/>
          </a:prstGeom>
          <a:ln w="0">
            <a:noFill/>
          </a:ln>
        </p:spPr>
      </p:pic>
      <p:sp>
        <p:nvSpPr>
          <p:cNvPr id="269" name="Text 16"/>
          <p:cNvSpPr/>
          <p:nvPr/>
        </p:nvSpPr>
        <p:spPr>
          <a:xfrm>
            <a:off x="6168600" y="4495320"/>
            <a:ext cx="80712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i="1" lang="en-US" sz="620" spc="-1" strike="noStrike">
                <a:solidFill>
                  <a:srgbClr val="42526e"/>
                </a:solidFill>
                <a:latin typeface="Calibri"/>
              </a:rPr>
              <a:t>Fig: Flow Chart of System</a:t>
            </a:r>
            <a:endParaRPr b="0" lang="en-US" sz="6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71" name="Text 0"/>
          <p:cNvSpPr/>
          <p:nvPr/>
        </p:nvSpPr>
        <p:spPr>
          <a:xfrm>
            <a:off x="3586320" y="428760"/>
            <a:ext cx="25430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091e42"/>
                </a:solidFill>
                <a:latin typeface="Calibri"/>
              </a:rPr>
              <a:t>Expected Outcomes</a:t>
            </a:r>
            <a:endParaRPr b="0" lang="en-US" sz="2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"/>
          <p:cNvSpPr/>
          <p:nvPr/>
        </p:nvSpPr>
        <p:spPr>
          <a:xfrm>
            <a:off x="571680" y="1180440"/>
            <a:ext cx="2523600" cy="3464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2"/>
          <p:cNvSpPr/>
          <p:nvPr/>
        </p:nvSpPr>
        <p:spPr>
          <a:xfrm>
            <a:off x="571680" y="1180440"/>
            <a:ext cx="2523600" cy="352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360" bIns="-9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3"/>
          <p:cNvSpPr/>
          <p:nvPr/>
        </p:nvSpPr>
        <p:spPr>
          <a:xfrm>
            <a:off x="1619280" y="1394640"/>
            <a:ext cx="428400" cy="428400"/>
          </a:xfrm>
          <a:prstGeom prst="rect">
            <a:avLst/>
          </a:prstGeom>
          <a:solidFill>
            <a:srgbClr val="f4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5" name="Image 1" descr="preencoded.png"/>
          <p:cNvPicPr/>
          <p:nvPr/>
        </p:nvPicPr>
        <p:blipFill>
          <a:blip r:embed="rId2"/>
          <a:stretch/>
        </p:blipFill>
        <p:spPr>
          <a:xfrm>
            <a:off x="1721160" y="1509120"/>
            <a:ext cx="224640" cy="199800"/>
          </a:xfrm>
          <a:prstGeom prst="rect">
            <a:avLst/>
          </a:prstGeom>
          <a:ln w="0">
            <a:noFill/>
          </a:ln>
        </p:spPr>
      </p:pic>
      <p:sp>
        <p:nvSpPr>
          <p:cNvPr id="276" name="Text 4"/>
          <p:cNvSpPr/>
          <p:nvPr/>
        </p:nvSpPr>
        <p:spPr>
          <a:xfrm>
            <a:off x="1204920" y="1930680"/>
            <a:ext cx="12567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90" spc="-1" strike="noStrike">
                <a:solidFill>
                  <a:srgbClr val="091e42"/>
                </a:solidFill>
                <a:latin typeface="Calibri"/>
              </a:rPr>
              <a:t>Operational Efficiency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5"/>
          <p:cNvSpPr/>
          <p:nvPr/>
        </p:nvSpPr>
        <p:spPr>
          <a:xfrm>
            <a:off x="777960" y="2323440"/>
            <a:ext cx="439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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6"/>
          <p:cNvSpPr/>
          <p:nvPr/>
        </p:nvSpPr>
        <p:spPr>
          <a:xfrm>
            <a:off x="1008360" y="2330640"/>
            <a:ext cx="5162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Elimination of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7"/>
          <p:cNvSpPr/>
          <p:nvPr/>
        </p:nvSpPr>
        <p:spPr>
          <a:xfrm>
            <a:off x="1719720" y="2330640"/>
            <a:ext cx="5968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double bookings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8"/>
          <p:cNvSpPr/>
          <p:nvPr/>
        </p:nvSpPr>
        <p:spPr>
          <a:xfrm>
            <a:off x="928800" y="2330640"/>
            <a:ext cx="17089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and manual scheduling errors.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9"/>
          <p:cNvSpPr/>
          <p:nvPr/>
        </p:nvSpPr>
        <p:spPr>
          <a:xfrm>
            <a:off x="777960" y="2752200"/>
            <a:ext cx="439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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10"/>
          <p:cNvSpPr/>
          <p:nvPr/>
        </p:nvSpPr>
        <p:spPr>
          <a:xfrm>
            <a:off x="1091520" y="2759400"/>
            <a:ext cx="12204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Automated revenue tracking and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1"/>
          <p:cNvSpPr/>
          <p:nvPr/>
        </p:nvSpPr>
        <p:spPr>
          <a:xfrm>
            <a:off x="1081080" y="2909160"/>
            <a:ext cx="7434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business intelligence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12"/>
          <p:cNvSpPr/>
          <p:nvPr/>
        </p:nvSpPr>
        <p:spPr>
          <a:xfrm>
            <a:off x="2027880" y="2909160"/>
            <a:ext cx="2937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reports.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13"/>
          <p:cNvSpPr/>
          <p:nvPr/>
        </p:nvSpPr>
        <p:spPr>
          <a:xfrm>
            <a:off x="777960" y="3180600"/>
            <a:ext cx="439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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14"/>
          <p:cNvSpPr/>
          <p:nvPr/>
        </p:nvSpPr>
        <p:spPr>
          <a:xfrm>
            <a:off x="928800" y="3187800"/>
            <a:ext cx="1798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Streamlined customer communication and subscription management.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15"/>
          <p:cNvSpPr/>
          <p:nvPr/>
        </p:nvSpPr>
        <p:spPr>
          <a:xfrm>
            <a:off x="3309840" y="1180440"/>
            <a:ext cx="2523600" cy="3464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16"/>
          <p:cNvSpPr/>
          <p:nvPr/>
        </p:nvSpPr>
        <p:spPr>
          <a:xfrm>
            <a:off x="3309840" y="1180440"/>
            <a:ext cx="2523600" cy="352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360" bIns="-9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17"/>
          <p:cNvSpPr/>
          <p:nvPr/>
        </p:nvSpPr>
        <p:spPr>
          <a:xfrm>
            <a:off x="4357800" y="1394640"/>
            <a:ext cx="428400" cy="428400"/>
          </a:xfrm>
          <a:prstGeom prst="rect">
            <a:avLst/>
          </a:prstGeom>
          <a:solidFill>
            <a:srgbClr val="f4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0" name="Image 2" descr="preencoded.png"/>
          <p:cNvPicPr/>
          <p:nvPr/>
        </p:nvPicPr>
        <p:blipFill>
          <a:blip r:embed="rId3"/>
          <a:stretch/>
        </p:blipFill>
        <p:spPr>
          <a:xfrm>
            <a:off x="4447080" y="1509120"/>
            <a:ext cx="249840" cy="199800"/>
          </a:xfrm>
          <a:prstGeom prst="rect">
            <a:avLst/>
          </a:prstGeom>
          <a:ln w="0">
            <a:noFill/>
          </a:ln>
        </p:spPr>
      </p:pic>
      <p:sp>
        <p:nvSpPr>
          <p:cNvPr id="291" name="Text 18"/>
          <p:cNvSpPr/>
          <p:nvPr/>
        </p:nvSpPr>
        <p:spPr>
          <a:xfrm>
            <a:off x="3959640" y="1930680"/>
            <a:ext cx="12247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90" spc="-1" strike="noStrike">
                <a:solidFill>
                  <a:srgbClr val="091e42"/>
                </a:solidFill>
                <a:latin typeface="Calibri"/>
              </a:rPr>
              <a:t>Enhanced Experience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19"/>
          <p:cNvSpPr/>
          <p:nvPr/>
        </p:nvSpPr>
        <p:spPr>
          <a:xfrm>
            <a:off x="3516120" y="2323440"/>
            <a:ext cx="439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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20"/>
          <p:cNvSpPr/>
          <p:nvPr/>
        </p:nvSpPr>
        <p:spPr>
          <a:xfrm>
            <a:off x="3790440" y="2330640"/>
            <a:ext cx="810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One-stop platform for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21"/>
          <p:cNvSpPr/>
          <p:nvPr/>
        </p:nvSpPr>
        <p:spPr>
          <a:xfrm>
            <a:off x="3666960" y="2330640"/>
            <a:ext cx="151452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real-time discovery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22"/>
          <p:cNvSpPr/>
          <p:nvPr/>
        </p:nvSpPr>
        <p:spPr>
          <a:xfrm>
            <a:off x="4265640" y="2480760"/>
            <a:ext cx="837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and court comparison.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23"/>
          <p:cNvSpPr/>
          <p:nvPr/>
        </p:nvSpPr>
        <p:spPr>
          <a:xfrm>
            <a:off x="3516120" y="2752200"/>
            <a:ext cx="439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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24"/>
          <p:cNvSpPr/>
          <p:nvPr/>
        </p:nvSpPr>
        <p:spPr>
          <a:xfrm>
            <a:off x="3666960" y="2759400"/>
            <a:ext cx="19130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Convenient booking process with instant mobile confirmations.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25"/>
          <p:cNvSpPr/>
          <p:nvPr/>
        </p:nvSpPr>
        <p:spPr>
          <a:xfrm>
            <a:off x="3516120" y="3180600"/>
            <a:ext cx="439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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26"/>
          <p:cNvSpPr/>
          <p:nvPr/>
        </p:nvSpPr>
        <p:spPr>
          <a:xfrm>
            <a:off x="3724200" y="3187800"/>
            <a:ext cx="345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Access to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27"/>
          <p:cNvSpPr/>
          <p:nvPr/>
        </p:nvSpPr>
        <p:spPr>
          <a:xfrm>
            <a:off x="4236120" y="3187800"/>
            <a:ext cx="5727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verified reviews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28"/>
          <p:cNvSpPr/>
          <p:nvPr/>
        </p:nvSpPr>
        <p:spPr>
          <a:xfrm>
            <a:off x="3666960" y="3187800"/>
            <a:ext cx="19584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and proximity-based recommendations.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9"/>
          <p:cNvSpPr/>
          <p:nvPr/>
        </p:nvSpPr>
        <p:spPr>
          <a:xfrm>
            <a:off x="6048360" y="1180440"/>
            <a:ext cx="2523600" cy="3464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30"/>
          <p:cNvSpPr/>
          <p:nvPr/>
        </p:nvSpPr>
        <p:spPr>
          <a:xfrm>
            <a:off x="6048360" y="1180440"/>
            <a:ext cx="2523600" cy="3528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360" bIns="-9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31"/>
          <p:cNvSpPr/>
          <p:nvPr/>
        </p:nvSpPr>
        <p:spPr>
          <a:xfrm>
            <a:off x="7095960" y="1394640"/>
            <a:ext cx="428400" cy="428400"/>
          </a:xfrm>
          <a:prstGeom prst="rect">
            <a:avLst/>
          </a:prstGeom>
          <a:solidFill>
            <a:srgbClr val="f4f5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5" name="Image 3" descr="preencoded.png"/>
          <p:cNvPicPr/>
          <p:nvPr/>
        </p:nvPicPr>
        <p:blipFill>
          <a:blip r:embed="rId4"/>
          <a:stretch/>
        </p:blipFill>
        <p:spPr>
          <a:xfrm>
            <a:off x="7185240" y="1509120"/>
            <a:ext cx="249840" cy="199800"/>
          </a:xfrm>
          <a:prstGeom prst="rect">
            <a:avLst/>
          </a:prstGeom>
          <a:ln w="0">
            <a:noFill/>
          </a:ln>
        </p:spPr>
      </p:pic>
      <p:sp>
        <p:nvSpPr>
          <p:cNvPr id="306" name="Text 32"/>
          <p:cNvSpPr/>
          <p:nvPr/>
        </p:nvSpPr>
        <p:spPr>
          <a:xfrm>
            <a:off x="6747840" y="1930680"/>
            <a:ext cx="11242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500"/>
              </a:lnSpc>
              <a:tabLst>
                <a:tab algn="l" pos="0"/>
              </a:tabLst>
            </a:pPr>
            <a:r>
              <a:rPr b="1" lang="en-US" sz="1090" spc="-1" strike="noStrike">
                <a:solidFill>
                  <a:srgbClr val="091e42"/>
                </a:solidFill>
                <a:latin typeface="Calibri"/>
              </a:rPr>
              <a:t>Scalable Innovation</a:t>
            </a: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33"/>
          <p:cNvSpPr/>
          <p:nvPr/>
        </p:nvSpPr>
        <p:spPr>
          <a:xfrm>
            <a:off x="6254640" y="2323440"/>
            <a:ext cx="439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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34"/>
          <p:cNvSpPr/>
          <p:nvPr/>
        </p:nvSpPr>
        <p:spPr>
          <a:xfrm>
            <a:off x="6454800" y="2330640"/>
            <a:ext cx="257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Robust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35"/>
          <p:cNvSpPr/>
          <p:nvPr/>
        </p:nvSpPr>
        <p:spPr>
          <a:xfrm>
            <a:off x="6887520" y="2330640"/>
            <a:ext cx="642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multi-tenant SaaS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36"/>
          <p:cNvSpPr/>
          <p:nvPr/>
        </p:nvSpPr>
        <p:spPr>
          <a:xfrm>
            <a:off x="6405480" y="2330640"/>
            <a:ext cx="18651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model ready for commercial expansion.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37"/>
          <p:cNvSpPr/>
          <p:nvPr/>
        </p:nvSpPr>
        <p:spPr>
          <a:xfrm>
            <a:off x="6254640" y="2752200"/>
            <a:ext cx="439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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38"/>
          <p:cNvSpPr/>
          <p:nvPr/>
        </p:nvSpPr>
        <p:spPr>
          <a:xfrm>
            <a:off x="6553800" y="2759400"/>
            <a:ext cx="9597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AI-driven insights through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39"/>
          <p:cNvSpPr/>
          <p:nvPr/>
        </p:nvSpPr>
        <p:spPr>
          <a:xfrm>
            <a:off x="6405480" y="2759400"/>
            <a:ext cx="1771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sentiment analysis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40"/>
          <p:cNvSpPr/>
          <p:nvPr/>
        </p:nvSpPr>
        <p:spPr>
          <a:xfrm>
            <a:off x="6907320" y="2909160"/>
            <a:ext cx="6382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of user feedback.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41"/>
          <p:cNvSpPr/>
          <p:nvPr/>
        </p:nvSpPr>
        <p:spPr>
          <a:xfrm>
            <a:off x="6254640" y="3180600"/>
            <a:ext cx="439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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42"/>
          <p:cNvSpPr/>
          <p:nvPr/>
        </p:nvSpPr>
        <p:spPr>
          <a:xfrm>
            <a:off x="6405480" y="3187800"/>
            <a:ext cx="18957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42526e"/>
                </a:solidFill>
                <a:latin typeface="Calibri"/>
              </a:rPr>
              <a:t>Secure, high-performance infrastructure for nationwide futsal management.</a:t>
            </a:r>
            <a:endParaRPr b="0" lang="en-US" sz="7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Image 0" descr="preencoded.png"/>
          <p:cNvPicPr/>
          <p:nvPr/>
        </p:nvPicPr>
        <p:blipFill>
          <a:blip r:embed="rId1"/>
          <a:stretch/>
        </p:blipFill>
        <p:spPr>
          <a:xfrm>
            <a:off x="360" y="11448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18" name="Text 0"/>
          <p:cNvSpPr/>
          <p:nvPr/>
        </p:nvSpPr>
        <p:spPr>
          <a:xfrm>
            <a:off x="4152960" y="428760"/>
            <a:ext cx="140940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b="1" lang="en-US" sz="2430" spc="-1" strike="noStrike">
                <a:solidFill>
                  <a:srgbClr val="091e42"/>
                </a:solidFill>
                <a:latin typeface="Calibri"/>
              </a:rPr>
              <a:t>References</a:t>
            </a:r>
            <a:endParaRPr b="0" lang="en-US" sz="2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"/>
          <p:cNvSpPr/>
          <p:nvPr/>
        </p:nvSpPr>
        <p:spPr>
          <a:xfrm>
            <a:off x="571680" y="1109160"/>
            <a:ext cx="3928680" cy="821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"/>
          <p:cNvSpPr/>
          <p:nvPr/>
        </p:nvSpPr>
        <p:spPr>
          <a:xfrm>
            <a:off x="571680" y="1109160"/>
            <a:ext cx="28080" cy="82116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3"/>
          <p:cNvSpPr/>
          <p:nvPr/>
        </p:nvSpPr>
        <p:spPr>
          <a:xfrm>
            <a:off x="571680" y="1109160"/>
            <a:ext cx="392868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21320" bIns="-576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pc="-1" strike="noStrike">
                <a:solidFill>
                  <a:srgbClr val="0052cc"/>
                </a:solidFill>
                <a:latin typeface="Calibri"/>
              </a:rPr>
              <a:t>[1]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A. N. S. Suhaimi and M. Z. Sahid, </a:t>
            </a:r>
            <a:r>
              <a:rPr b="1" lang="en-US" sz="540" spc="-1" strike="noStrike">
                <a:solidFill>
                  <a:srgbClr val="091e42"/>
                </a:solidFill>
                <a:latin typeface="Calibri"/>
              </a:rPr>
              <a:t>"A Development of Futsal Court Booking System,"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AITCS, vol. 4, no. 1, 2023.</a:t>
            </a:r>
            <a:endParaRPr b="0" lang="en-US" sz="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4"/>
          <p:cNvSpPr/>
          <p:nvPr/>
        </p:nvSpPr>
        <p:spPr>
          <a:xfrm>
            <a:off x="4643280" y="1109160"/>
            <a:ext cx="3928680" cy="821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5"/>
          <p:cNvSpPr/>
          <p:nvPr/>
        </p:nvSpPr>
        <p:spPr>
          <a:xfrm>
            <a:off x="4643280" y="1109160"/>
            <a:ext cx="28080" cy="82116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6"/>
          <p:cNvSpPr/>
          <p:nvPr/>
        </p:nvSpPr>
        <p:spPr>
          <a:xfrm>
            <a:off x="4643280" y="1109160"/>
            <a:ext cx="392868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21320" bIns="-576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pc="-1" strike="noStrike">
                <a:solidFill>
                  <a:srgbClr val="0052cc"/>
                </a:solidFill>
                <a:latin typeface="Calibri"/>
              </a:rPr>
              <a:t>[2]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Coursera, </a:t>
            </a:r>
            <a:r>
              <a:rPr b="1" lang="en-US" sz="540" spc="-1" strike="noStrike">
                <a:solidFill>
                  <a:srgbClr val="091e42"/>
                </a:solidFill>
                <a:latin typeface="Calibri"/>
              </a:rPr>
              <a:t>"What is TF-IDF?"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[Online]. Available: </a:t>
            </a:r>
            <a:r>
              <a:rPr b="0" lang="en-US" sz="570" spc="-1" strike="noStrike">
                <a:solidFill>
                  <a:srgbClr val="0052cc"/>
                </a:solidFill>
                <a:latin typeface="Calibri"/>
              </a:rPr>
              <a:t>https://www.coursera.org/articles/what-is-tfidf</a:t>
            </a:r>
            <a:endParaRPr b="0" lang="en-US" sz="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7"/>
          <p:cNvSpPr/>
          <p:nvPr/>
        </p:nvSpPr>
        <p:spPr>
          <a:xfrm>
            <a:off x="571680" y="2073600"/>
            <a:ext cx="3928680" cy="821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8"/>
          <p:cNvSpPr/>
          <p:nvPr/>
        </p:nvSpPr>
        <p:spPr>
          <a:xfrm>
            <a:off x="571680" y="2073600"/>
            <a:ext cx="28080" cy="82116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9"/>
          <p:cNvSpPr/>
          <p:nvPr/>
        </p:nvSpPr>
        <p:spPr>
          <a:xfrm>
            <a:off x="571680" y="2073600"/>
            <a:ext cx="39286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2744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pc="-1" strike="noStrike">
                <a:solidFill>
                  <a:srgbClr val="0052cc"/>
                </a:solidFill>
                <a:latin typeface="Calibri"/>
              </a:rPr>
              <a:t>[3]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GeeksforGeeks, </a:t>
            </a:r>
            <a:r>
              <a:rPr b="1" lang="en-US" sz="540" spc="-1" strike="noStrike">
                <a:solidFill>
                  <a:srgbClr val="091e42"/>
                </a:solidFill>
                <a:latin typeface="Calibri"/>
              </a:rPr>
              <a:t>"Agile SDLC"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[Online]. Available: </a:t>
            </a:r>
            <a:r>
              <a:rPr b="0" lang="en-US" sz="570" spc="-1" strike="noStrike">
                <a:solidFill>
                  <a:srgbClr val="0052cc"/>
                </a:solidFill>
                <a:latin typeface="Calibri"/>
              </a:rPr>
              <a:t>https://www.geeksforgeeks.org/agile-sdlc-software-development-life-cycle/</a:t>
            </a:r>
            <a:endParaRPr b="0" lang="en-US" sz="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10"/>
          <p:cNvSpPr/>
          <p:nvPr/>
        </p:nvSpPr>
        <p:spPr>
          <a:xfrm>
            <a:off x="4643280" y="2073600"/>
            <a:ext cx="3928680" cy="821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11"/>
          <p:cNvSpPr/>
          <p:nvPr/>
        </p:nvSpPr>
        <p:spPr>
          <a:xfrm>
            <a:off x="4643280" y="2073600"/>
            <a:ext cx="28080" cy="82116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12"/>
          <p:cNvSpPr/>
          <p:nvPr/>
        </p:nvSpPr>
        <p:spPr>
          <a:xfrm>
            <a:off x="4643280" y="2073600"/>
            <a:ext cx="392868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21320" bIns="-576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pc="-1" strike="noStrike">
                <a:solidFill>
                  <a:srgbClr val="0052cc"/>
                </a:solidFill>
                <a:latin typeface="Calibri"/>
              </a:rPr>
              <a:t>[4]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A. Fauzi et al., </a:t>
            </a:r>
            <a:r>
              <a:rPr b="1" lang="en-US" sz="540" spc="-1" strike="noStrike">
                <a:solidFill>
                  <a:srgbClr val="091e42"/>
                </a:solidFill>
                <a:latin typeface="Calibri"/>
              </a:rPr>
              <a:t>"Explore Business Opportunities in the Sport Industry in Bekasi,"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IJESM, vol. 1, no. 2, 2023.</a:t>
            </a:r>
            <a:endParaRPr b="0" lang="en-US" sz="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13"/>
          <p:cNvSpPr/>
          <p:nvPr/>
        </p:nvSpPr>
        <p:spPr>
          <a:xfrm>
            <a:off x="571680" y="3038040"/>
            <a:ext cx="3928680" cy="821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14"/>
          <p:cNvSpPr/>
          <p:nvPr/>
        </p:nvSpPr>
        <p:spPr>
          <a:xfrm>
            <a:off x="571680" y="3038040"/>
            <a:ext cx="28080" cy="82116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15"/>
          <p:cNvSpPr/>
          <p:nvPr/>
        </p:nvSpPr>
        <p:spPr>
          <a:xfrm>
            <a:off x="571680" y="3038040"/>
            <a:ext cx="392868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21320" bIns="-576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pc="-1" strike="noStrike">
                <a:solidFill>
                  <a:srgbClr val="0052cc"/>
                </a:solidFill>
                <a:latin typeface="Calibri"/>
              </a:rPr>
              <a:t>[5]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SportsKey, </a:t>
            </a:r>
            <a:r>
              <a:rPr b="1" lang="en-US" sz="540" spc="-1" strike="noStrike">
                <a:solidFill>
                  <a:srgbClr val="091e42"/>
                </a:solidFill>
                <a:latin typeface="Calibri"/>
              </a:rPr>
              <a:t>"Sports Facility Booking Software Trends,"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2026. Available: </a:t>
            </a:r>
            <a:r>
              <a:rPr b="0" lang="en-US" sz="570" spc="-1" strike="noStrike">
                <a:solidFill>
                  <a:srgbClr val="0052cc"/>
                </a:solidFill>
                <a:latin typeface="Calibri"/>
              </a:rPr>
              <a:t>https://www.sportskey.com</a:t>
            </a:r>
            <a:endParaRPr b="0" lang="en-US" sz="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16"/>
          <p:cNvSpPr/>
          <p:nvPr/>
        </p:nvSpPr>
        <p:spPr>
          <a:xfrm>
            <a:off x="4643280" y="3038040"/>
            <a:ext cx="3928680" cy="821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17"/>
          <p:cNvSpPr/>
          <p:nvPr/>
        </p:nvSpPr>
        <p:spPr>
          <a:xfrm>
            <a:off x="4643280" y="3038040"/>
            <a:ext cx="28080" cy="82116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18"/>
          <p:cNvSpPr/>
          <p:nvPr/>
        </p:nvSpPr>
        <p:spPr>
          <a:xfrm>
            <a:off x="4643280" y="3038040"/>
            <a:ext cx="392868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21320" bIns="-576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pc="-1" strike="noStrike">
                <a:solidFill>
                  <a:srgbClr val="0052cc"/>
                </a:solidFill>
                <a:latin typeface="Calibri"/>
              </a:rPr>
              <a:t>[6]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UiTM, </a:t>
            </a:r>
            <a:r>
              <a:rPr b="1" lang="en-US" sz="540" spc="-1" strike="noStrike">
                <a:solidFill>
                  <a:srgbClr val="091e42"/>
                </a:solidFill>
                <a:latin typeface="Calibri"/>
              </a:rPr>
              <a:t>"Progressive Web Applications for Mobile-First Systems,"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2024.</a:t>
            </a:r>
            <a:endParaRPr b="0" lang="en-US" sz="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19"/>
          <p:cNvSpPr/>
          <p:nvPr/>
        </p:nvSpPr>
        <p:spPr>
          <a:xfrm>
            <a:off x="571680" y="4002120"/>
            <a:ext cx="3928680" cy="821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20"/>
          <p:cNvSpPr/>
          <p:nvPr/>
        </p:nvSpPr>
        <p:spPr>
          <a:xfrm>
            <a:off x="571680" y="4002120"/>
            <a:ext cx="28080" cy="82116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21"/>
          <p:cNvSpPr/>
          <p:nvPr/>
        </p:nvSpPr>
        <p:spPr>
          <a:xfrm>
            <a:off x="571680" y="4002120"/>
            <a:ext cx="392868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21320" bIns="-576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pc="-1" strike="noStrike">
                <a:solidFill>
                  <a:srgbClr val="0052cc"/>
                </a:solidFill>
                <a:latin typeface="Calibri"/>
              </a:rPr>
              <a:t>[7]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S. Nagar et al., </a:t>
            </a:r>
            <a:r>
              <a:rPr b="1" lang="en-US" sz="540" spc="-1" strike="noStrike">
                <a:solidFill>
                  <a:srgbClr val="091e42"/>
                </a:solidFill>
                <a:latin typeface="Calibri"/>
              </a:rPr>
              <a:t>"Logistic Regression Based Approach for Human Sentiment Analysis,"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ACROSET, 2024.</a:t>
            </a:r>
            <a:endParaRPr b="0" lang="en-US" sz="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22"/>
          <p:cNvSpPr/>
          <p:nvPr/>
        </p:nvSpPr>
        <p:spPr>
          <a:xfrm>
            <a:off x="4643280" y="4002120"/>
            <a:ext cx="3928680" cy="821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23"/>
          <p:cNvSpPr/>
          <p:nvPr/>
        </p:nvSpPr>
        <p:spPr>
          <a:xfrm>
            <a:off x="4643280" y="4002120"/>
            <a:ext cx="28080" cy="82116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24"/>
          <p:cNvSpPr/>
          <p:nvPr/>
        </p:nvSpPr>
        <p:spPr>
          <a:xfrm>
            <a:off x="4643280" y="4002120"/>
            <a:ext cx="392868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440" rIns="127440" tIns="121320" bIns="-576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540" spc="-1" strike="noStrike">
                <a:solidFill>
                  <a:srgbClr val="0052cc"/>
                </a:solidFill>
                <a:latin typeface="Calibri"/>
              </a:rPr>
              <a:t>[8]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IBM, </a:t>
            </a:r>
            <a:r>
              <a:rPr b="1" lang="en-US" sz="540" spc="-1" strike="noStrike">
                <a:solidFill>
                  <a:srgbClr val="091e42"/>
                </a:solidFill>
                <a:latin typeface="Calibri"/>
              </a:rPr>
              <a:t>"What is multi-tenant architecture?"</a:t>
            </a:r>
            <a:r>
              <a:rPr b="0" lang="en-US" sz="570" spc="-1" strike="noStrike">
                <a:solidFill>
                  <a:srgbClr val="42526e"/>
                </a:solidFill>
                <a:latin typeface="Calibri"/>
              </a:rPr>
              <a:t> Available: </a:t>
            </a:r>
            <a:r>
              <a:rPr b="0" lang="en-US" sz="570" spc="-1" strike="noStrike">
                <a:solidFill>
                  <a:srgbClr val="0052cc"/>
                </a:solidFill>
                <a:latin typeface="Calibri"/>
              </a:rPr>
              <a:t>https://www.ibm.com/think/topics/multi-tenant</a:t>
            </a:r>
            <a:endParaRPr b="0" lang="en-US" sz="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21"/>
          <p:cNvSpPr/>
          <p:nvPr/>
        </p:nvSpPr>
        <p:spPr>
          <a:xfrm>
            <a:off x="571680" y="1109160"/>
            <a:ext cx="28080" cy="82116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45" name="Shape 0"/>
          <p:cNvSpPr/>
          <p:nvPr/>
        </p:nvSpPr>
        <p:spPr>
          <a:xfrm>
            <a:off x="642960" y="857160"/>
            <a:ext cx="7857720" cy="3428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"/>
          <p:cNvSpPr/>
          <p:nvPr/>
        </p:nvSpPr>
        <p:spPr>
          <a:xfrm>
            <a:off x="642960" y="857160"/>
            <a:ext cx="4653000" cy="3428640"/>
          </a:xfrm>
          <a:prstGeom prst="rect">
            <a:avLst/>
          </a:prstGeom>
          <a:solidFill>
            <a:srgbClr val="091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2"/>
          <p:cNvSpPr/>
          <p:nvPr/>
        </p:nvSpPr>
        <p:spPr>
          <a:xfrm>
            <a:off x="1949400" y="2515680"/>
            <a:ext cx="21834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4501"/>
              </a:lnSpc>
              <a:tabLst>
                <a:tab algn="l" pos="0"/>
              </a:tabLst>
            </a:pPr>
            <a:r>
              <a:rPr b="1" lang="en-US" sz="3730" spc="-1" strike="noStrike">
                <a:solidFill>
                  <a:srgbClr val="ffffff"/>
                </a:solidFill>
                <a:latin typeface="Calibri"/>
              </a:rPr>
              <a:t>Thank You!</a:t>
            </a:r>
            <a:endParaRPr b="0" lang="en-US" sz="3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3"/>
          <p:cNvSpPr/>
          <p:nvPr/>
        </p:nvSpPr>
        <p:spPr>
          <a:xfrm>
            <a:off x="1710720" y="3167280"/>
            <a:ext cx="26604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70" spc="-1" strike="noStrike">
                <a:solidFill>
                  <a:srgbClr val="ffffff">
                    <a:alpha val="80000"/>
                  </a:srgbClr>
                </a:solidFill>
                <a:latin typeface="Calibri"/>
              </a:rPr>
              <a:t>Futsal Booking and Management System</a:t>
            </a:r>
            <a:endParaRPr b="0" lang="en-US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4"/>
          <p:cNvSpPr/>
          <p:nvPr/>
        </p:nvSpPr>
        <p:spPr>
          <a:xfrm>
            <a:off x="5589360" y="1143000"/>
            <a:ext cx="2625840" cy="347760"/>
          </a:xfrm>
          <a:prstGeom prst="rect">
            <a:avLst/>
          </a:prstGeom>
          <a:solidFill>
            <a:srgbClr val="0052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5"/>
          <p:cNvSpPr/>
          <p:nvPr/>
        </p:nvSpPr>
        <p:spPr>
          <a:xfrm>
            <a:off x="5589360" y="1143000"/>
            <a:ext cx="26258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080" rIns="136080" tIns="68040" bIns="6804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42526e"/>
                </a:solidFill>
                <a:latin typeface="Calibri"/>
              </a:rPr>
              <a:t>QUESTIONS?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6"/>
          <p:cNvSpPr/>
          <p:nvPr/>
        </p:nvSpPr>
        <p:spPr>
          <a:xfrm>
            <a:off x="6668640" y="1776960"/>
            <a:ext cx="46728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Project Team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2" name="Image 1" descr="preencoded.png"/>
          <p:cNvPicPr/>
          <p:nvPr/>
        </p:nvPicPr>
        <p:blipFill>
          <a:blip r:embed="rId2"/>
          <a:stretch/>
        </p:blipFill>
        <p:spPr>
          <a:xfrm>
            <a:off x="5589360" y="2014560"/>
            <a:ext cx="99720" cy="114120"/>
          </a:xfrm>
          <a:prstGeom prst="rect">
            <a:avLst/>
          </a:prstGeom>
          <a:ln w="0">
            <a:noFill/>
          </a:ln>
        </p:spPr>
      </p:pic>
      <p:sp>
        <p:nvSpPr>
          <p:cNvPr id="353" name="Text 7"/>
          <p:cNvSpPr/>
          <p:nvPr/>
        </p:nvSpPr>
        <p:spPr>
          <a:xfrm>
            <a:off x="5865120" y="1984320"/>
            <a:ext cx="592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Aashish Rijal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4" name="Image 2" descr="preencoded.png"/>
          <p:cNvPicPr/>
          <p:nvPr/>
        </p:nvPicPr>
        <p:blipFill>
          <a:blip r:embed="rId3"/>
          <a:stretch/>
        </p:blipFill>
        <p:spPr>
          <a:xfrm>
            <a:off x="5589360" y="2275200"/>
            <a:ext cx="99720" cy="114120"/>
          </a:xfrm>
          <a:prstGeom prst="rect">
            <a:avLst/>
          </a:prstGeom>
          <a:ln w="0">
            <a:noFill/>
          </a:ln>
        </p:spPr>
      </p:pic>
      <p:sp>
        <p:nvSpPr>
          <p:cNvPr id="355" name="Text 8"/>
          <p:cNvSpPr/>
          <p:nvPr/>
        </p:nvSpPr>
        <p:spPr>
          <a:xfrm>
            <a:off x="5908320" y="2244960"/>
            <a:ext cx="7754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Kedar Dhungana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6" name="Image 3" descr="preencoded.png"/>
          <p:cNvPicPr/>
          <p:nvPr/>
        </p:nvPicPr>
        <p:blipFill>
          <a:blip r:embed="rId4"/>
          <a:stretch/>
        </p:blipFill>
        <p:spPr>
          <a:xfrm>
            <a:off x="5589360" y="2536200"/>
            <a:ext cx="99720" cy="114120"/>
          </a:xfrm>
          <a:prstGeom prst="rect">
            <a:avLst/>
          </a:prstGeom>
          <a:ln w="0">
            <a:noFill/>
          </a:ln>
        </p:spPr>
      </p:pic>
      <p:sp>
        <p:nvSpPr>
          <p:cNvPr id="357" name="Text 9"/>
          <p:cNvSpPr/>
          <p:nvPr/>
        </p:nvSpPr>
        <p:spPr>
          <a:xfrm>
            <a:off x="5891040" y="2505600"/>
            <a:ext cx="7326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091e42"/>
                </a:solidFill>
                <a:latin typeface="Calibri"/>
              </a:rPr>
              <a:t>Dipesh Devkota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10"/>
          <p:cNvSpPr/>
          <p:nvPr/>
        </p:nvSpPr>
        <p:spPr>
          <a:xfrm>
            <a:off x="6709680" y="3943440"/>
            <a:ext cx="38520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052cc"/>
                </a:solidFill>
                <a:latin typeface="Calibri"/>
              </a:rPr>
              <a:t>Supervisor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11"/>
          <p:cNvSpPr/>
          <p:nvPr/>
        </p:nvSpPr>
        <p:spPr>
          <a:xfrm>
            <a:off x="6639480" y="4150440"/>
            <a:ext cx="52524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b="1" lang="en-US" sz="690" spc="-1" strike="noStrike">
                <a:solidFill>
                  <a:srgbClr val="091e42"/>
                </a:solidFill>
                <a:latin typeface="Calibri"/>
              </a:rPr>
              <a:t>Mr. Surya Bam</a:t>
            </a:r>
            <a:endParaRPr b="0" lang="en-US" sz="6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2026-02-23T12:21:56Z</dcterms:created>
  <dc:creator>PptxGenJS</dc:creator>
  <dc:description/>
  <dc:language>en-US</dc:language>
  <cp:lastModifiedBy/>
  <dcterms:modified xsi:type="dcterms:W3CDTF">2026-02-23T19:15:10Z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