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W8LwcFGbnG+anW7hpL4Z1C5I3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c069222680_0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c069222680_0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g3c069222680_0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069222680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069222680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069222680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069222680_1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069222680_1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069222680_1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c069222680_1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c069222680_1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c069222680_1_7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06922268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06922268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c06922268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2.jp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2.jpg"/><Relationship Id="rId4" Type="http://schemas.openxmlformats.org/officeDocument/2006/relationships/image" Target="../media/image3.png"/><Relationship Id="rId5" Type="http://schemas.openxmlformats.org/officeDocument/2006/relationships/image" Target="../media/image31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2.jp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2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8.png"/><Relationship Id="rId7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jp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2.jp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jpg"/><Relationship Id="rId4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jp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2.jp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9.jpg"/><Relationship Id="rId4" Type="http://schemas.openxmlformats.org/officeDocument/2006/relationships/image" Target="../media/image27.png"/><Relationship Id="rId5" Type="http://schemas.openxmlformats.org/officeDocument/2006/relationships/image" Target="../media/image35.png"/><Relationship Id="rId6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jpg"/><Relationship Id="rId4" Type="http://schemas.openxmlformats.org/officeDocument/2006/relationships/image" Target="../media/image34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jpg"/><Relationship Id="rId4" Type="http://schemas.openxmlformats.org/officeDocument/2006/relationships/image" Target="../media/image45.png"/><Relationship Id="rId5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642938" y="857250"/>
            <a:ext cx="7858125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642938" y="857250"/>
            <a:ext cx="4653428" cy="3429000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1071563" y="1939414"/>
            <a:ext cx="3939000" cy="2892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1071588" y="1939414"/>
            <a:ext cx="3939000" cy="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PROPOSAL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071563" y="2228766"/>
            <a:ext cx="3939053" cy="132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229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62"/>
              <a:buFont typeface="Calibri"/>
              <a:buNone/>
            </a:pPr>
            <a:r>
              <a:rPr b="1" i="0" lang="en-US" sz="2862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Futsal Booking and Management System</a:t>
            </a:r>
            <a:endParaRPr b="0" i="0" sz="286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071563" y="3634606"/>
            <a:ext cx="3939053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B.Sc. CSIT | Tribhuvan University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589259" y="1143000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lang="en-US" sz="683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Presented </a:t>
            </a: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By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589259" y="1314450"/>
            <a:ext cx="262605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Aashish Rijal - 79010939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589259" y="1518047"/>
            <a:ext cx="262605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Kedar Dhungana - 79010957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589259" y="1721644"/>
            <a:ext cx="2626054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Dipesh Devkota - 79010</a:t>
            </a:r>
            <a:r>
              <a:rPr b="1" lang="en-US" sz="885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52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589322" y="2214554"/>
            <a:ext cx="26262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Under the Supervision of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589259" y="2402079"/>
            <a:ext cx="2626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Mr. Surya Bam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589259" y="3286125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Institution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589259" y="3457575"/>
            <a:ext cx="2626054" cy="3500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Asian School of Management and Technology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589259" y="3864769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February 25, 2026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39" y="944763"/>
            <a:ext cx="1741710" cy="914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g3c069222680_0_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3c069222680_0_118"/>
          <p:cNvSpPr txBox="1"/>
          <p:nvPr/>
        </p:nvSpPr>
        <p:spPr>
          <a:xfrm>
            <a:off x="615525" y="398575"/>
            <a:ext cx="5719500" cy="5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6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g3c069222680_0_118"/>
          <p:cNvSpPr/>
          <p:nvPr/>
        </p:nvSpPr>
        <p:spPr>
          <a:xfrm>
            <a:off x="615525" y="1049676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and Background</a:t>
            </a:r>
            <a:endParaRPr/>
          </a:p>
        </p:txBody>
      </p:sp>
      <p:sp>
        <p:nvSpPr>
          <p:cNvPr id="43" name="Google Shape;43;g3c069222680_0_118"/>
          <p:cNvSpPr/>
          <p:nvPr/>
        </p:nvSpPr>
        <p:spPr>
          <a:xfrm>
            <a:off x="615525" y="1343764"/>
            <a:ext cx="8001000" cy="167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44" name="Google Shape;44;g3c069222680_0_118"/>
          <p:cNvSpPr/>
          <p:nvPr/>
        </p:nvSpPr>
        <p:spPr>
          <a:xfrm>
            <a:off x="615525" y="1614976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45" name="Google Shape;45;g3c069222680_0_118"/>
          <p:cNvSpPr/>
          <p:nvPr/>
        </p:nvSpPr>
        <p:spPr>
          <a:xfrm>
            <a:off x="615525" y="1920976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Development</a:t>
            </a:r>
            <a:r>
              <a:rPr lang="en-US"/>
              <a:t> Methodology</a:t>
            </a:r>
            <a:endParaRPr/>
          </a:p>
        </p:txBody>
      </p:sp>
      <p:sp>
        <p:nvSpPr>
          <p:cNvPr id="46" name="Google Shape;46;g3c069222680_0_118"/>
          <p:cNvSpPr/>
          <p:nvPr/>
        </p:nvSpPr>
        <p:spPr>
          <a:xfrm>
            <a:off x="615525" y="2254101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Functional Requirements</a:t>
            </a:r>
            <a:endParaRPr/>
          </a:p>
        </p:txBody>
      </p:sp>
      <p:sp>
        <p:nvSpPr>
          <p:cNvPr id="47" name="Google Shape;47;g3c069222680_0_118"/>
          <p:cNvSpPr/>
          <p:nvPr/>
        </p:nvSpPr>
        <p:spPr>
          <a:xfrm>
            <a:off x="615525" y="2587238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Non-Functional Requirements</a:t>
            </a:r>
            <a:endParaRPr/>
          </a:p>
        </p:txBody>
      </p:sp>
      <p:sp>
        <p:nvSpPr>
          <p:cNvPr id="48" name="Google Shape;48;g3c069222680_0_118"/>
          <p:cNvSpPr/>
          <p:nvPr/>
        </p:nvSpPr>
        <p:spPr>
          <a:xfrm>
            <a:off x="615525" y="2930476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 Feasibility</a:t>
            </a:r>
            <a:endParaRPr/>
          </a:p>
        </p:txBody>
      </p:sp>
      <p:sp>
        <p:nvSpPr>
          <p:cNvPr id="49" name="Google Shape;49;g3c069222680_0_118"/>
          <p:cNvSpPr/>
          <p:nvPr/>
        </p:nvSpPr>
        <p:spPr>
          <a:xfrm>
            <a:off x="615525" y="3228289"/>
            <a:ext cx="8001000" cy="202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Technical Feasibility</a:t>
            </a:r>
            <a:endParaRPr/>
          </a:p>
        </p:txBody>
      </p:sp>
      <p:sp>
        <p:nvSpPr>
          <p:cNvPr id="50" name="Google Shape;50;g3c069222680_0_118"/>
          <p:cNvSpPr/>
          <p:nvPr/>
        </p:nvSpPr>
        <p:spPr>
          <a:xfrm>
            <a:off x="615525" y="3526126"/>
            <a:ext cx="8001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Algorithms Description</a:t>
            </a:r>
            <a:endParaRPr/>
          </a:p>
        </p:txBody>
      </p:sp>
      <p:sp>
        <p:nvSpPr>
          <p:cNvPr id="51" name="Google Shape;51;g3c069222680_0_118"/>
          <p:cNvSpPr/>
          <p:nvPr/>
        </p:nvSpPr>
        <p:spPr>
          <a:xfrm>
            <a:off x="615525" y="3834313"/>
            <a:ext cx="8001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 Chart</a:t>
            </a:r>
            <a:endParaRPr/>
          </a:p>
        </p:txBody>
      </p:sp>
      <p:sp>
        <p:nvSpPr>
          <p:cNvPr id="52" name="Google Shape;52;g3c069222680_0_118"/>
          <p:cNvSpPr/>
          <p:nvPr/>
        </p:nvSpPr>
        <p:spPr>
          <a:xfrm>
            <a:off x="615525" y="4137988"/>
            <a:ext cx="8001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Outcomes</a:t>
            </a:r>
            <a:endParaRPr/>
          </a:p>
        </p:txBody>
      </p:sp>
      <p:sp>
        <p:nvSpPr>
          <p:cNvPr id="53" name="Google Shape;53;g3c069222680_0_118"/>
          <p:cNvSpPr/>
          <p:nvPr/>
        </p:nvSpPr>
        <p:spPr>
          <a:xfrm>
            <a:off x="615525" y="4443926"/>
            <a:ext cx="8001000" cy="21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54" name="Google Shape;54;g3c069222680_0_118"/>
          <p:cNvSpPr/>
          <p:nvPr/>
        </p:nvSpPr>
        <p:spPr>
          <a:xfrm>
            <a:off x="615525" y="1068034"/>
            <a:ext cx="28500" cy="3590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069222680_0_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" name="Google Shape;6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700125" y="703600"/>
            <a:ext cx="857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Introduction &amp; Background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580950" y="1331855"/>
            <a:ext cx="16155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Current Landscape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50225" y="1727913"/>
            <a:ext cx="3871800" cy="8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50113" y="1727900"/>
            <a:ext cx="3871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700113" y="1829738"/>
            <a:ext cx="3614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Futsal Growth in Nepal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00113" y="1978822"/>
            <a:ext cx="36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Rapid increase in urban futsal centers due to rising interest in indoor football and recreation. [1]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650225" y="2871800"/>
            <a:ext cx="3871800" cy="8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50113" y="2821338"/>
            <a:ext cx="3871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00088" y="2939650"/>
            <a:ext cx="3614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Manual Dependency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00088" y="3114659"/>
            <a:ext cx="36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Most facilities rely on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phone calls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social media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 or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paper registers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for bookings.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639763" y="1331855"/>
            <a:ext cx="15534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b="0" i="0" sz="119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700588" y="1727888"/>
            <a:ext cx="3871800" cy="8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4700563" y="1727863"/>
            <a:ext cx="3871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4829125" y="1787713"/>
            <a:ext cx="3614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Multi-Tenant SaaS Platform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4829125" y="1978822"/>
            <a:ext cx="36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Centralized web-based system allowing multiple businesses to operate independently on shared infrastructure.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4700588" y="2871800"/>
            <a:ext cx="3871800" cy="8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4700563" y="2821325"/>
            <a:ext cx="3871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4829150" y="2939650"/>
            <a:ext cx="36147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Smart Innovation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4829175" y="3114659"/>
            <a:ext cx="3614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Integration of</a:t>
            </a:r>
            <a:r>
              <a:rPr b="1" lang="en-US" sz="784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for automated 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Sentiment Analysis 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614375" y="481050"/>
            <a:ext cx="857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71500" y="1109067"/>
            <a:ext cx="8001000" cy="892969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571500" y="1109067"/>
            <a:ext cx="42863" cy="89296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571500" y="1109067"/>
            <a:ext cx="8001000" cy="8929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255125" wrap="square" tIns="212575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alibri"/>
              <a:buNone/>
            </a:pPr>
            <a:r>
              <a:rPr lang="en-US" sz="94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Many futsal centers still use manual systems, which cause slow operations, booking mistakes, poor customer experience, and no proper business data insights.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71500" y="2287786"/>
            <a:ext cx="2524116" cy="19931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571500" y="2287786"/>
            <a:ext cx="2524116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714375" y="2466380"/>
            <a:ext cx="357300" cy="357300"/>
          </a:xfrm>
          <a:prstGeom prst="ellipse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7244" y="255924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/>
          <p:nvPr/>
        </p:nvSpPr>
        <p:spPr>
          <a:xfrm>
            <a:off x="714375" y="2966442"/>
            <a:ext cx="22383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Operational Chaos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14375" y="3268266"/>
            <a:ext cx="2238366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Manual bookings via phone/social media cause </a:t>
            </a: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double bookings</a:t>
            </a: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 scheduling conflicts, and inaccurate record-keeping.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309928" y="2287786"/>
            <a:ext cx="2524116" cy="19931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309928" y="2287786"/>
            <a:ext cx="2524116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3452803" y="2466380"/>
            <a:ext cx="357300" cy="357300"/>
          </a:xfrm>
          <a:prstGeom prst="ellipse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5672" y="255924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3452803" y="2966442"/>
            <a:ext cx="22383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Discovery Barriers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452803" y="3268266"/>
            <a:ext cx="2238366" cy="4822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No centralized platform for players to </a:t>
            </a: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discover and compare</a:t>
            </a: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multiple courts, prices, and reviews.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048356" y="2287786"/>
            <a:ext cx="2524116" cy="19931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048356" y="2287786"/>
            <a:ext cx="2524116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6191231" y="2466380"/>
            <a:ext cx="357300" cy="357300"/>
          </a:xfrm>
          <a:prstGeom prst="ellipse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4100" y="2559248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6191231" y="2966442"/>
            <a:ext cx="2238366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Business Intelligence Gap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6191231" y="3198416"/>
            <a:ext cx="22383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666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lang="en-US" sz="780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Futsal owners lack proper data and smart tools, making it hard to track profits, popular times, customer satisfaction, or use AI insights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Project Objectives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571500" y="1180505"/>
            <a:ext cx="1893094" cy="2964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71500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303734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8034" y="150911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"/>
          <p:cNvSpPr/>
          <p:nvPr/>
        </p:nvSpPr>
        <p:spPr>
          <a:xfrm>
            <a:off x="778501" y="2002036"/>
            <a:ext cx="14790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Centralized Platform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14375" y="2280642"/>
            <a:ext cx="1607344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To d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evelop a unified web portal for </a:t>
            </a: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real-time discovery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and court booking, ensuring accessibility for all users.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2607469" y="1180505"/>
            <a:ext cx="1893094" cy="2964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607469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339703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7" name="Google Shape;12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4003" y="150911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/>
          <p:nvPr/>
        </p:nvSpPr>
        <p:spPr>
          <a:xfrm>
            <a:off x="2914790" y="2002036"/>
            <a:ext cx="1278452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Multi-Tenant SaaS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750344" y="2280642"/>
            <a:ext cx="1607344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To i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mplement a </a:t>
            </a: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scalable architecture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allowing multiple futsal facilities to operate independently within one system.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643438" y="1180505"/>
            <a:ext cx="1893094" cy="2964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643438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5375672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3" name="Google Shape;13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4969" y="150911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/>
          <p:nvPr/>
        </p:nvSpPr>
        <p:spPr>
          <a:xfrm>
            <a:off x="4842793" y="2002036"/>
            <a:ext cx="149435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Community Features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786313" y="2280642"/>
            <a:ext cx="1607344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To e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nable </a:t>
            </a: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verified ratings</a:t>
            </a: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reviews, and discussion forums to enhance user interaction and trust.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679406" y="1180505"/>
            <a:ext cx="1893094" cy="2964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6679406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7411641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5941" y="150911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"/>
          <p:cNvSpPr/>
          <p:nvPr/>
        </p:nvSpPr>
        <p:spPr>
          <a:xfrm>
            <a:off x="6981788" y="2002036"/>
            <a:ext cx="128830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i="0" lang="en-US" sz="987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AI/ML Integration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822281" y="2280642"/>
            <a:ext cx="1607344" cy="640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To i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ntegrate </a:t>
            </a: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 for smarter business decision-making.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1513" y="857180"/>
            <a:ext cx="8001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71500" y="857255"/>
            <a:ext cx="28500" cy="857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851" y="1098484"/>
            <a:ext cx="11251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946539" y="1075330"/>
            <a:ext cx="14538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Suhaimi &amp; Sahid (2021)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85838" y="1319802"/>
            <a:ext cx="757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Research highlights the necessity of replacing manual logbooks with databas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-driven platforms to improve booking visibility and scheduling clarity.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[1]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55400" y="1925668"/>
            <a:ext cx="8001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71488" y="1925613"/>
            <a:ext cx="28500" cy="857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5813" y="211867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985838" y="2107505"/>
            <a:ext cx="11019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Fauzi e</a:t>
            </a: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 al. (2022)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69700" y="2344040"/>
            <a:ext cx="757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Web-based systems significantly increase accessibility and customer reach while reducing the risks associated with 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handwritten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rental 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processes. 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71500" y="2994068"/>
            <a:ext cx="8001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71500" y="2994068"/>
            <a:ext cx="28500" cy="857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9738" y="3138860"/>
            <a:ext cx="160734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5"/>
          <p:cNvSpPr/>
          <p:nvPr/>
        </p:nvSpPr>
        <p:spPr>
          <a:xfrm>
            <a:off x="985859" y="3139680"/>
            <a:ext cx="14742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Modern System Design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769738" y="3368277"/>
            <a:ext cx="7572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Multi-tenant SaaS architecture is recommended for shared platforms to ensure proper data isolation and scalability for independent facility 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owners. 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71500" y="3995055"/>
            <a:ext cx="8001000" cy="85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571513" y="3995055"/>
            <a:ext cx="28500" cy="857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5813" y="4180872"/>
            <a:ext cx="128588" cy="12858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"/>
          <p:cNvSpPr/>
          <p:nvPr/>
        </p:nvSpPr>
        <p:spPr>
          <a:xfrm>
            <a:off x="985838" y="4180880"/>
            <a:ext cx="1620000" cy="1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Machine Learning Trends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785813" y="4370252"/>
            <a:ext cx="7572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Increasing application of Logistic Regression and TF-IDF for sentiment analysis and text feature extraction in user engagement 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platforms. 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[2][</a:t>
            </a:r>
            <a:r>
              <a:rPr lang="en-US" sz="834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Development Methodology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14375" y="894742"/>
            <a:ext cx="8001000" cy="714300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571500" y="894755"/>
            <a:ext cx="42900" cy="7143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14375" y="894742"/>
            <a:ext cx="80010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5125" spcFirstLastPara="1" rIns="255125" wrap="square" tIns="170050">
            <a:spAutoFit/>
          </a:bodyPr>
          <a:lstStyle/>
          <a:p>
            <a:pPr indent="0" lvl="0" marL="0" marR="0" rtl="0" algn="l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42"/>
              <a:buFont typeface="Calibri"/>
              <a:buNone/>
            </a:pPr>
            <a:r>
              <a:rPr lang="en-US" sz="94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project uses the Agile Development Model, which focuses on making progress step by step, getting regular feedback, and easily adjusting to changing needs.</a:t>
            </a:r>
            <a:endParaRPr b="0" i="0" sz="94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857250" y="3351814"/>
            <a:ext cx="1345090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8817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t/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3429000" y="2906781"/>
            <a:ext cx="100013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3429000" y="3123940"/>
            <a:ext cx="100013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3429000" y="3341098"/>
            <a:ext cx="100013" cy="1599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90336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488" y="1609054"/>
            <a:ext cx="5107478" cy="301525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614400" y="4586200"/>
            <a:ext cx="528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/>
              <a:t>Fig: Agile Development Model [3]</a:t>
            </a:r>
            <a:endParaRPr sz="900"/>
          </a:p>
        </p:txBody>
      </p:sp>
      <p:sp>
        <p:nvSpPr>
          <p:cNvPr id="186" name="Google Shape;186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92500" y="1020392"/>
            <a:ext cx="2667000" cy="367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392500" y="1020392"/>
            <a:ext cx="2667000" cy="357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07219" y="1323380"/>
            <a:ext cx="321469" cy="321469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5445" y="1412677"/>
            <a:ext cx="125016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035844" y="1376958"/>
            <a:ext cx="69277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End User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07219" y="1823442"/>
            <a:ext cx="8572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85829" y="1825223"/>
            <a:ext cx="1536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earch futsal centers  by 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price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slots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1021054" y="1965229"/>
            <a:ext cx="268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 flipH="1" rot="16488">
            <a:off x="582674" y="2321441"/>
            <a:ext cx="125101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10813" y="2332549"/>
            <a:ext cx="16863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eal-time court booking and instant confirmation.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582677" y="2762775"/>
            <a:ext cx="125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54017" y="2754975"/>
            <a:ext cx="1755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Submit verified 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ratings and reviews.  </a:t>
            </a:r>
            <a:endParaRPr b="1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502154" y="2599544"/>
            <a:ext cx="268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82677" y="3518450"/>
            <a:ext cx="125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753988" y="3037289"/>
            <a:ext cx="1944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Personalized recommendations based on proximity.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82675" y="3104650"/>
            <a:ext cx="1251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30488" y="3510658"/>
            <a:ext cx="2105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Manage booking history and profile settings.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3220429" y="1145104"/>
            <a:ext cx="2667000" cy="367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3238491" y="1109067"/>
            <a:ext cx="2666991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3417084" y="1323380"/>
            <a:ext cx="321469" cy="321469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4" name="Google Shape;21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7452" y="1412677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3845709" y="1376958"/>
            <a:ext cx="1046727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Futsal Owner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17084" y="1823442"/>
            <a:ext cx="8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595673" y="1825225"/>
            <a:ext cx="1944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Manage futsal profile and Court availability.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675765" y="1825228"/>
            <a:ext cx="268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417084" y="2073474"/>
            <a:ext cx="8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3595678" y="2072385"/>
            <a:ext cx="1562500" cy="275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Set dynamic pricing and time slot configurations.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3417084" y="2457757"/>
            <a:ext cx="8572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595678" y="2459543"/>
            <a:ext cx="1861645" cy="275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Approve/Manage booking requests and schedules.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417050" y="2872125"/>
            <a:ext cx="8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575653" y="2864958"/>
            <a:ext cx="1992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Respond to customer queries and reviews.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048356" y="1057579"/>
            <a:ext cx="2667000" cy="367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049731" y="1002030"/>
            <a:ext cx="2667000" cy="357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226950" y="1323380"/>
            <a:ext cx="321469" cy="321469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8388" y="1412677"/>
            <a:ext cx="17859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6655575" y="1376958"/>
            <a:ext cx="1123885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System Admin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226950" y="1823442"/>
            <a:ext cx="8572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6405563" y="1825225"/>
            <a:ext cx="1686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Manage all  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multi-tenant accounts.</a:t>
            </a:r>
            <a:endParaRPr b="1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8061889" y="1825228"/>
            <a:ext cx="2681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6226950" y="2070599"/>
            <a:ext cx="85725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6405544" y="2072385"/>
            <a:ext cx="1955350" cy="275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Monitor system-wide usage and generate reports.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207275" y="2846800"/>
            <a:ext cx="125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6356725" y="2526132"/>
            <a:ext cx="21057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Monitor system-wide usage and package tiers..</a:t>
            </a:r>
            <a:endParaRPr sz="8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t/>
            </a:r>
            <a:endParaRPr sz="8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209100" y="2537412"/>
            <a:ext cx="858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6339719" y="2829225"/>
            <a:ext cx="17556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Moderate user accounts and content.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6209100" y="3162100"/>
            <a:ext cx="85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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6351169" y="3107357"/>
            <a:ext cx="21168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130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System-level configuration and maintenance.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7" name="Google Shape;247;g3c069222680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4450" y="-30625"/>
            <a:ext cx="9252890" cy="520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c069222680_0_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0600" y="0"/>
            <a:ext cx="6436975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c069222680_0_56"/>
          <p:cNvSpPr txBox="1"/>
          <p:nvPr/>
        </p:nvSpPr>
        <p:spPr>
          <a:xfrm>
            <a:off x="37550" y="2169450"/>
            <a:ext cx="27231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6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Futsal Booking &amp; Management System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c069222680_0_56"/>
          <p:cNvSpPr/>
          <p:nvPr/>
        </p:nvSpPr>
        <p:spPr>
          <a:xfrm>
            <a:off x="352850" y="1613125"/>
            <a:ext cx="2092500" cy="409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5"/>
              <a:buFont typeface="Calibri"/>
              <a:buNone/>
            </a:pPr>
            <a:r>
              <a:rPr b="1" lang="en-US" sz="168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b="1" sz="16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c069222680_0_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7" name="Google Shape;2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571500" y="1180505"/>
            <a:ext cx="3893344" cy="18145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571500" y="1180505"/>
            <a:ext cx="3893344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785813" y="1394817"/>
            <a:ext cx="285750" cy="28575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2" name="Google Shape;2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4394" y="1451967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8"/>
          <p:cNvSpPr/>
          <p:nvPr/>
        </p:nvSpPr>
        <p:spPr>
          <a:xfrm>
            <a:off x="1178719" y="1430536"/>
            <a:ext cx="1018598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785813" y="1787723"/>
            <a:ext cx="3464719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Ensuring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real-time availability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checks and high-speed response times for booking confirmations and slot validations.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4679150" y="1180499"/>
            <a:ext cx="3893400" cy="18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4679156" y="1180505"/>
            <a:ext cx="3893344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4893469" y="1394817"/>
            <a:ext cx="285750" cy="28575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8" name="Google Shape;26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334" y="1451967"/>
            <a:ext cx="150019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8"/>
          <p:cNvSpPr/>
          <p:nvPr/>
        </p:nvSpPr>
        <p:spPr>
          <a:xfrm>
            <a:off x="5286375" y="1430536"/>
            <a:ext cx="8061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893469" y="1787723"/>
            <a:ext cx="3464719" cy="5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 scalable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multi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-tenant architecture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designed to handle a growing number of futsal centers and concurrent users seamlessly.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71500" y="3180755"/>
            <a:ext cx="3893344" cy="18145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571500" y="3180755"/>
            <a:ext cx="3893344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785813" y="3395067"/>
            <a:ext cx="285750" cy="28575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4" name="Google Shape;27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2963" y="3452217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8"/>
          <p:cNvSpPr/>
          <p:nvPr/>
        </p:nvSpPr>
        <p:spPr>
          <a:xfrm>
            <a:off x="1178719" y="3430786"/>
            <a:ext cx="64045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85813" y="3787973"/>
            <a:ext cx="3464719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Implementation of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JWT authentication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and strict data isolation between tenants to ensure privacy and data integrity.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679156" y="3180755"/>
            <a:ext cx="3893344" cy="181451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679156" y="3180755"/>
            <a:ext cx="3893344" cy="28575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893469" y="3395067"/>
            <a:ext cx="285750" cy="28575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72050" y="3452217"/>
            <a:ext cx="12858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8"/>
          <p:cNvSpPr/>
          <p:nvPr/>
        </p:nvSpPr>
        <p:spPr>
          <a:xfrm>
            <a:off x="5286375" y="3430786"/>
            <a:ext cx="69277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Usability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893469" y="3787973"/>
            <a:ext cx="3464719" cy="3657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834"/>
              <a:buFont typeface="Calibri"/>
              <a:buNone/>
            </a:pP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US" sz="7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mobile-responsive</a:t>
            </a:r>
            <a:r>
              <a:rPr b="0" i="0" lang="en-US" sz="834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design ensuring a consistent and intuitive user experience across all devices and screen sizes.</a:t>
            </a:r>
            <a:endParaRPr b="0" i="0" sz="8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9" name="Google Shape;289;g3c069222680_1_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g3c069222680_1_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475" y="1017400"/>
            <a:ext cx="7239750" cy="38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c069222680_1_66"/>
          <p:cNvSpPr/>
          <p:nvPr/>
        </p:nvSpPr>
        <p:spPr>
          <a:xfrm>
            <a:off x="571500" y="336975"/>
            <a:ext cx="857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lang="en-US" sz="2436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 Feasibility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c069222680_1_66"/>
          <p:cNvSpPr/>
          <p:nvPr/>
        </p:nvSpPr>
        <p:spPr>
          <a:xfrm>
            <a:off x="571500" y="850426"/>
            <a:ext cx="7195200" cy="31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c069222680_1_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9" name="Google Shape;2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9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Technical Feasibility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571500" y="1180505"/>
            <a:ext cx="1893094" cy="3250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71500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1303734" y="1394817"/>
            <a:ext cx="428625" cy="428625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3031" y="150911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9"/>
          <p:cNvSpPr/>
          <p:nvPr/>
        </p:nvSpPr>
        <p:spPr>
          <a:xfrm>
            <a:off x="714375" y="2002036"/>
            <a:ext cx="1607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714375" y="2359223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92969" y="2361009"/>
            <a:ext cx="41684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React.js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1309818" y="2361009"/>
            <a:ext cx="77035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for dynamic UI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14375" y="2594967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892969" y="2596753"/>
            <a:ext cx="1108342" cy="296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Responsive design for mobile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714375" y="2980730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892969" y="2982516"/>
            <a:ext cx="139710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JWT-based session handling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2607469" y="1180505"/>
            <a:ext cx="1893094" cy="3250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2607469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3339703" y="1394817"/>
            <a:ext cx="428625" cy="428625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6" name="Google Shape;31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4003" y="150911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9"/>
          <p:cNvSpPr/>
          <p:nvPr/>
        </p:nvSpPr>
        <p:spPr>
          <a:xfrm>
            <a:off x="2750344" y="2002036"/>
            <a:ext cx="1607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750344" y="2359223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2928938" y="2361009"/>
            <a:ext cx="943310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Node.js &amp; Express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750344" y="2594967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2928938" y="2596753"/>
            <a:ext cx="1378158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Scalable RESTful API design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750344" y="2830711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2928938" y="2832497"/>
            <a:ext cx="1331751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Multi-tenant data isolation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643438" y="1180505"/>
            <a:ext cx="1893094" cy="3250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643438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5375672" y="1394817"/>
            <a:ext cx="428625" cy="428625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7" name="Google Shape;32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2473" y="1509117"/>
            <a:ext cx="175022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/>
          <p:nvPr/>
        </p:nvSpPr>
        <p:spPr>
          <a:xfrm>
            <a:off x="4786313" y="2002036"/>
            <a:ext cx="1607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786313" y="2359223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964906" y="2361009"/>
            <a:ext cx="366926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331833" y="2361009"/>
            <a:ext cx="77978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for persistence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786313" y="2594967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964906" y="2596753"/>
            <a:ext cx="28784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5252749" y="2596753"/>
            <a:ext cx="80099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for slot caching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786313" y="2830711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964906" y="2832497"/>
            <a:ext cx="1222223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Cloud-based file storage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679406" y="1180505"/>
            <a:ext cx="1893094" cy="32504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6679406" y="1180505"/>
            <a:ext cx="1893094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7411641" y="1394817"/>
            <a:ext cx="428625" cy="428625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0" name="Google Shape;34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5941" y="1509117"/>
            <a:ext cx="2000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/>
          <p:nvPr/>
        </p:nvSpPr>
        <p:spPr>
          <a:xfrm>
            <a:off x="6822281" y="2002036"/>
            <a:ext cx="1607344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AI &amp; ML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6822281" y="2359223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7000875" y="2361009"/>
            <a:ext cx="381912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3487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734"/>
              <a:buFont typeface="Calibri"/>
              <a:buNone/>
            </a:pPr>
            <a:r>
              <a:rPr b="1" i="0" lang="en-US" sz="73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7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7382787" y="2361009"/>
            <a:ext cx="665234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NLP libraries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6822281" y="2594967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7000875" y="2596753"/>
            <a:ext cx="1315259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Logistic Regression model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6822281" y="2830711"/>
            <a:ext cx="107156" cy="119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109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584"/>
              <a:buFont typeface="Calibri"/>
              <a:buNone/>
            </a:pPr>
            <a:r>
              <a:rPr b="1" i="0" lang="en-US" sz="584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</a:t>
            </a:r>
            <a:endParaRPr b="0" i="0" sz="5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7000875" y="2832497"/>
            <a:ext cx="1115095" cy="146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3846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80"/>
              <a:buFont typeface="Calibri"/>
              <a:buNone/>
            </a:pPr>
            <a:r>
              <a:rPr b="0" i="0" lang="en-US" sz="780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TF-IDF text processing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5" name="Google Shape;3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/>
          <p:nvPr/>
        </p:nvSpPr>
        <p:spPr>
          <a:xfrm>
            <a:off x="480200" y="709450"/>
            <a:ext cx="857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lang="en-US" sz="2436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Algorithms Description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28625" y="1316717"/>
            <a:ext cx="2667000" cy="363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45200" y="1299580"/>
            <a:ext cx="26670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9" name="Google Shape;35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25" y="1565382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10"/>
          <p:cNvSpPr/>
          <p:nvPr/>
        </p:nvSpPr>
        <p:spPr>
          <a:xfrm>
            <a:off x="842703" y="1539475"/>
            <a:ext cx="18720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Slot Conflict Preventation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246779" y="1316717"/>
            <a:ext cx="2667000" cy="363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3246791" y="1299580"/>
            <a:ext cx="26670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166" y="1565382"/>
            <a:ext cx="160734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0"/>
          <p:cNvSpPr/>
          <p:nvPr/>
        </p:nvSpPr>
        <p:spPr>
          <a:xfrm>
            <a:off x="3677724" y="1539475"/>
            <a:ext cx="20751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Location Distance (Haversine Formula)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064856" y="1316717"/>
            <a:ext cx="2667000" cy="3636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6064981" y="1299580"/>
            <a:ext cx="26670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6831" y="1565382"/>
            <a:ext cx="14287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/>
          <p:nvPr/>
        </p:nvSpPr>
        <p:spPr>
          <a:xfrm>
            <a:off x="6515544" y="1539486"/>
            <a:ext cx="11598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184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987"/>
              <a:buFont typeface="Calibri"/>
              <a:buNone/>
            </a:pPr>
            <a:r>
              <a:rPr b="1" lang="en-US" sz="987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 b="0" i="0" sz="9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6298388" y="2537817"/>
            <a:ext cx="2144771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F4F5F7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4F5F7"/>
                </a:solidFill>
                <a:latin typeface="Calibri"/>
                <a:ea typeface="Calibri"/>
                <a:cs typeface="Calibri"/>
                <a:sym typeface="Calibri"/>
              </a:rPr>
              <a:t>Logistic Regression + TF-IDF for review categorization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6298388" y="2666405"/>
            <a:ext cx="777469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F4F5F7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4F5F7"/>
                </a:solidFill>
                <a:latin typeface="Calibri"/>
                <a:ea typeface="Calibri"/>
                <a:cs typeface="Calibri"/>
                <a:sym typeface="Calibri"/>
              </a:rPr>
              <a:t>(Positive/Negative).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298388" y="3302198"/>
            <a:ext cx="523363" cy="116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1030"/>
              </a:lnSpc>
              <a:spcBef>
                <a:spcPts val="0"/>
              </a:spcBef>
              <a:spcAft>
                <a:spcPts val="0"/>
              </a:spcAft>
              <a:buClr>
                <a:srgbClr val="F4F5F7"/>
              </a:buClr>
              <a:buSzPts val="621"/>
              <a:buFont typeface="Calibri"/>
              <a:buNone/>
            </a:pPr>
            <a:r>
              <a:rPr b="0" i="0" lang="en-US" sz="621" u="none" cap="none" strike="noStrike">
                <a:solidFill>
                  <a:srgbClr val="F4F5F7"/>
                </a:solidFill>
                <a:latin typeface="Calibri"/>
                <a:ea typeface="Calibri"/>
                <a:cs typeface="Calibri"/>
                <a:sym typeface="Calibri"/>
              </a:rPr>
              <a:t>futsal courts.</a:t>
            </a:r>
            <a:endParaRPr b="0" i="0" sz="6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 txBox="1"/>
          <p:nvPr/>
        </p:nvSpPr>
        <p:spPr>
          <a:xfrm>
            <a:off x="571500" y="1734175"/>
            <a:ext cx="2524200" cy="29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The algorithm checks existing bookings for the selected court &amp; date.</a:t>
            </a:r>
            <a:endParaRPr sz="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new booking request with start time S</a:t>
            </a:r>
            <a:r>
              <a:rPr lang="en-U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end time E, the system verifies overlap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existing slots (Sᵢ, Eᵢ).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If overlap exists → Booking is rejected.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If no overlap → Booking is confirmed and slot is locked.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Logic: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slots overlap if: (S &lt; Eᵢ) AND (E &gt; S).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Booking is allowed only if: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∀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i: NOT[(S&lt; Eᵢ) AND (E&gt; Sᵢ)]</a:t>
            </a:r>
            <a:endParaRPr sz="8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guarantees that only one active booking exists per court per time range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373" name="Google Shape;373;p10"/>
          <p:cNvSpPr txBox="1"/>
          <p:nvPr/>
        </p:nvSpPr>
        <p:spPr>
          <a:xfrm>
            <a:off x="3369675" y="1788375"/>
            <a:ext cx="23832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algorithm reads user latitude and longitude.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compares them with futsal center coordinates.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Distances are calculated and sorted ascending.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Nearest futsal centers are recommended first.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Logic: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 = 2r × arcsin( √( sin²(Δφ/2) + cos(φ₁) × cos(φ₂) × sin²(Δλ/2) ) ) Where: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 = distance between two points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 = Earth radius (6371 km)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φ = latitude, λ = longitude (in radians)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Δφ = φ₂ − φ₁</a:t>
            </a:r>
            <a:b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Δλ = λ₂ − λ₁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10"/>
          <p:cNvSpPr txBox="1"/>
          <p:nvPr/>
        </p:nvSpPr>
        <p:spPr>
          <a:xfrm>
            <a:off x="6246825" y="1832700"/>
            <a:ext cx="2317500" cy="27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TF-IDF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 vectors are generated from reviews. These features are passed into the logistic regression model. The model computes probability scores.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threshold (usually 0.5) is used to assign class labels.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Probability ≥ threshold → </a:t>
            </a: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sentiment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Probability &lt; threshold → </a:t>
            </a: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Negative </a:t>
            </a: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sentiment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Logic:</a:t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1 / (1 + e^(−z))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= w₀ + w₁x₁ + w₂x₂ + … + w </a:t>
            </a:r>
            <a:r>
              <a:rPr lang="en-US" sz="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ₙxₙ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rule: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= 1 if p ≥ 0.5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= 0 if p &lt; 0.5</a:t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5" name="Google Shape;375;p10"/>
          <p:cNvSpPr/>
          <p:nvPr/>
        </p:nvSpPr>
        <p:spPr>
          <a:xfrm flipH="1" rot="10800000">
            <a:off x="654175" y="3131771"/>
            <a:ext cx="1117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 flipH="1" rot="10800000">
            <a:off x="3409175" y="3131771"/>
            <a:ext cx="1117800" cy="285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 flipH="1" rot="10800000">
            <a:off x="6298400" y="3131475"/>
            <a:ext cx="1117800" cy="291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4" name="Google Shape;384;g3c069222680_1_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c069222680_1_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1325" y="0"/>
            <a:ext cx="6469025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c069222680_1_72"/>
          <p:cNvSpPr/>
          <p:nvPr/>
        </p:nvSpPr>
        <p:spPr>
          <a:xfrm>
            <a:off x="261175" y="1530600"/>
            <a:ext cx="2092500" cy="4098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85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Flow Chart</a:t>
            </a:r>
            <a:endParaRPr b="1" sz="168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c069222680_1_72"/>
          <p:cNvSpPr txBox="1"/>
          <p:nvPr/>
        </p:nvSpPr>
        <p:spPr>
          <a:xfrm>
            <a:off x="0" y="2229875"/>
            <a:ext cx="2485500" cy="15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36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Futsal Booking &amp; Management System</a:t>
            </a:r>
            <a:endParaRPr sz="243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3c069222680_1_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4" name="Google Shape;3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/>
          <p:nvPr/>
        </p:nvSpPr>
        <p:spPr>
          <a:xfrm>
            <a:off x="571500" y="428625"/>
            <a:ext cx="8572500" cy="466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b="1" i="0" lang="en-US" sz="2436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Expected Outcomes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571500" y="1180625"/>
            <a:ext cx="2524200" cy="34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571500" y="1180505"/>
            <a:ext cx="2524116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1"/>
          <p:cNvSpPr/>
          <p:nvPr/>
        </p:nvSpPr>
        <p:spPr>
          <a:xfrm>
            <a:off x="1619231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1030" y="1509117"/>
            <a:ext cx="22502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1"/>
          <p:cNvSpPr/>
          <p:nvPr/>
        </p:nvSpPr>
        <p:spPr>
          <a:xfrm>
            <a:off x="966722" y="1930598"/>
            <a:ext cx="173367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Operational Efficiency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750094" y="232350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928688" y="2309148"/>
            <a:ext cx="1709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Elimination of 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double bookings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and manual scheduling errors.</a:t>
            </a:r>
            <a:endParaRPr sz="8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t/>
            </a:r>
            <a:endParaRPr sz="7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750094" y="2752130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928688" y="2759273"/>
            <a:ext cx="1546399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Automated revenue tracking and </a:t>
            </a:r>
            <a:r>
              <a:rPr b="1"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business intelligence</a:t>
            </a:r>
            <a:r>
              <a:rPr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reports.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750094" y="318075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928688" y="3187898"/>
            <a:ext cx="179855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Streamlined customer communication and subscription management.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3309928" y="1169793"/>
            <a:ext cx="2524200" cy="3464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1"/>
          <p:cNvSpPr/>
          <p:nvPr/>
        </p:nvSpPr>
        <p:spPr>
          <a:xfrm>
            <a:off x="3309928" y="1180505"/>
            <a:ext cx="2524116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1"/>
          <p:cNvSpPr/>
          <p:nvPr/>
        </p:nvSpPr>
        <p:spPr>
          <a:xfrm>
            <a:off x="4357660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6956" y="150911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1"/>
          <p:cNvSpPr/>
          <p:nvPr/>
        </p:nvSpPr>
        <p:spPr>
          <a:xfrm>
            <a:off x="3738469" y="1930598"/>
            <a:ext cx="1667033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Enhanced Experience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488522" y="232350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3667125" y="2330650"/>
            <a:ext cx="18654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One-stop platform for 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real-time discovery </a:t>
            </a: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and court comparison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4140278" y="2480667"/>
            <a:ext cx="1088947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t/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488522" y="2752130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3667116" y="2759273"/>
            <a:ext cx="1913241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Convenient booking process with instant mobile confirmations.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3488522" y="318075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3667150" y="3187900"/>
            <a:ext cx="1733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Access to </a:t>
            </a:r>
            <a:r>
              <a:rPr b="1" lang="en-US" sz="7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verified</a:t>
            </a:r>
            <a:r>
              <a:rPr b="1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and proximity-based recommendations.</a:t>
            </a:r>
            <a:endParaRPr b="0" i="0" sz="7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6048356" y="1180505"/>
            <a:ext cx="2524116" cy="3464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6048356" y="1180505"/>
            <a:ext cx="2524116" cy="35719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1"/>
          <p:cNvSpPr/>
          <p:nvPr/>
        </p:nvSpPr>
        <p:spPr>
          <a:xfrm>
            <a:off x="7096088" y="1394817"/>
            <a:ext cx="428625" cy="42862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2" name="Google Shape;42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85385" y="1509117"/>
            <a:ext cx="250031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11"/>
          <p:cNvSpPr/>
          <p:nvPr/>
        </p:nvSpPr>
        <p:spPr>
          <a:xfrm>
            <a:off x="6535834" y="1930598"/>
            <a:ext cx="1549161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1090"/>
              <a:buFont typeface="Calibri"/>
              <a:buNone/>
            </a:pPr>
            <a:r>
              <a:rPr b="1" i="0" lang="en-US" sz="1090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Scalable Innovation</a:t>
            </a:r>
            <a:endParaRPr b="0" i="0" sz="10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6226950" y="232350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6420944" y="3766548"/>
            <a:ext cx="1865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7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7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t/>
            </a:r>
            <a:endParaRPr sz="72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6226950" y="2752130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6405552" y="2759275"/>
            <a:ext cx="1733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AI-driven insights through  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 of user feedback.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300582" y="3830836"/>
            <a:ext cx="1772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t/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226950" y="3180755"/>
            <a:ext cx="100013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695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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6405544" y="3187898"/>
            <a:ext cx="189624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Secure, high-performance infrastructure for nationwide futsal management.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405572" y="2330650"/>
            <a:ext cx="1667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5061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727"/>
              <a:buFont typeface="Calibri"/>
              <a:buNone/>
            </a:pPr>
            <a:r>
              <a:rPr b="0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Robust 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mul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827" u="none" cap="none" strike="noStrike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i-t</a:t>
            </a:r>
            <a:r>
              <a:rPr b="1"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enant SaaS </a:t>
            </a:r>
            <a:r>
              <a:rPr lang="en-US" sz="827">
                <a:solidFill>
                  <a:srgbClr val="42526E"/>
                </a:solidFill>
                <a:latin typeface="Calibri"/>
                <a:ea typeface="Calibri"/>
                <a:cs typeface="Calibri"/>
                <a:sym typeface="Calibri"/>
              </a:rPr>
              <a:t>model ready for commercial expansion.</a:t>
            </a:r>
            <a:endParaRPr b="0" i="0" sz="82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8" name="Google Shape;438;g3c069222680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g3c069222680_0_0"/>
          <p:cNvSpPr/>
          <p:nvPr/>
        </p:nvSpPr>
        <p:spPr>
          <a:xfrm>
            <a:off x="571500" y="428625"/>
            <a:ext cx="8572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2436"/>
              <a:buFont typeface="Calibri"/>
              <a:buNone/>
            </a:pPr>
            <a:r>
              <a:rPr lang="en-US" sz="2436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4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325" y="9908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0424" y="99087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475" y="9908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00" y="17024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475" y="17024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00" y="248982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825" y="248982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900" y="32771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g3c069222680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1825" y="3277175"/>
            <a:ext cx="3924300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1474" y="99087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99" y="1740350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1474" y="170247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99" y="248982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1824" y="248982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899" y="3277175"/>
            <a:ext cx="21473" cy="61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g3c069222680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1824" y="3277175"/>
            <a:ext cx="21473" cy="6155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3c069222680_0_0"/>
          <p:cNvSpPr txBox="1"/>
          <p:nvPr/>
        </p:nvSpPr>
        <p:spPr>
          <a:xfrm>
            <a:off x="486825" y="1052350"/>
            <a:ext cx="36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[1] A. N. S. Suhaimi and M. Z. Sahid, "A Development of Futsal Court Booking System," AITCS, vol. 4, no. 1, 2023.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c069222680_0_0"/>
          <p:cNvSpPr txBox="1"/>
          <p:nvPr/>
        </p:nvSpPr>
        <p:spPr>
          <a:xfrm>
            <a:off x="529275" y="1724875"/>
            <a:ext cx="355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[3] GeeksforGeeks, "Agile SDLC" [Online]. Available: https://www.geeksforgeeks.org/agile-sdlc-software-development-life-cycle/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c069222680_0_0"/>
          <p:cNvSpPr txBox="1"/>
          <p:nvPr/>
        </p:nvSpPr>
        <p:spPr>
          <a:xfrm>
            <a:off x="529275" y="2551300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[</a:t>
            </a: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5] SportsKey, "Sports Facility Booking Software Trends," 2026. Available: https://www.sportskey.com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c069222680_0_0"/>
          <p:cNvSpPr txBox="1"/>
          <p:nvPr/>
        </p:nvSpPr>
        <p:spPr>
          <a:xfrm>
            <a:off x="577975" y="3338650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[7] S. Nagar et al., "Logistic Regression Based Approach for Human Sentiment Analysis," ACROSET, 2024.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c069222680_0_0"/>
          <p:cNvSpPr txBox="1"/>
          <p:nvPr/>
        </p:nvSpPr>
        <p:spPr>
          <a:xfrm>
            <a:off x="4501825" y="988400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[2] Coursera, "What is TF-IDF?" [Online]. Available: https://www.coursera.org/articles/what-is-tfidf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c069222680_0_0"/>
          <p:cNvSpPr txBox="1"/>
          <p:nvPr/>
        </p:nvSpPr>
        <p:spPr>
          <a:xfrm>
            <a:off x="4578225" y="1739113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[4] A. Fauzi et al., "Explore Business Opportunities in the Sport Industry in Bekasi," IJESM, vol. 1, no. 2, 2023.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c069222680_0_0"/>
          <p:cNvSpPr txBox="1"/>
          <p:nvPr/>
        </p:nvSpPr>
        <p:spPr>
          <a:xfrm>
            <a:off x="4578225" y="2539500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[6] UiTM, "Progressive Web Applications for Mobile-First Systems," 2024.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c069222680_0_0"/>
          <p:cNvSpPr txBox="1"/>
          <p:nvPr/>
        </p:nvSpPr>
        <p:spPr>
          <a:xfrm>
            <a:off x="4578225" y="3338650"/>
            <a:ext cx="355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Calibri"/>
                <a:ea typeface="Calibri"/>
                <a:cs typeface="Calibri"/>
                <a:sym typeface="Calibri"/>
              </a:rPr>
              <a:t>[8] IBM, "What is multi-tenant architecture?" Available: https://www.ibm.com/think/topics/multi-tenant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g3c069222680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0" name="Google Shape;47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2"/>
          <p:cNvSpPr/>
          <p:nvPr/>
        </p:nvSpPr>
        <p:spPr>
          <a:xfrm>
            <a:off x="642938" y="857250"/>
            <a:ext cx="7858125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642938" y="857250"/>
            <a:ext cx="4653428" cy="3429000"/>
          </a:xfrm>
          <a:prstGeom prst="rect">
            <a:avLst/>
          </a:prstGeom>
          <a:solidFill>
            <a:srgbClr val="091E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1071563" y="2515632"/>
            <a:ext cx="3939053" cy="565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6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31"/>
              <a:buFont typeface="Calibri"/>
              <a:buNone/>
            </a:pPr>
            <a:r>
              <a:rPr b="1" i="0" lang="en-US" sz="37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0" i="0" sz="37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1071563" y="3167137"/>
            <a:ext cx="3939053" cy="233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608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9"/>
              <a:buFont typeface="Calibri"/>
              <a:buNone/>
            </a:pPr>
            <a:r>
              <a:rPr b="0" i="0" lang="en-US" sz="1269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Futsal Booking and Management System</a:t>
            </a:r>
            <a:endParaRPr b="0" i="0" sz="12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5589259" y="1143000"/>
            <a:ext cx="2626054" cy="348258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5589259" y="1143000"/>
            <a:ext cx="2626054" cy="348258"/>
          </a:xfrm>
          <a:prstGeom prst="rect">
            <a:avLst/>
          </a:prstGeom>
          <a:noFill/>
          <a:ln>
            <a:noFill/>
          </a:ln>
        </p:spPr>
        <p:txBody>
          <a:bodyPr anchorCtr="0" anchor="t" bIns="68050" lIns="136000" spcFirstLastPara="1" rIns="136000" wrap="square" tIns="68050">
            <a:spAutoFit/>
          </a:bodyPr>
          <a:lstStyle/>
          <a:p>
            <a:pPr indent="0" lvl="0" marL="0" marR="0" rtl="0" algn="l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42526E"/>
              </a:buClr>
              <a:buSzPts val="1193"/>
              <a:buFont typeface="Calibri"/>
              <a:buNone/>
            </a:pPr>
            <a:r>
              <a:rPr b="1" i="0" lang="en-US" sz="1193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193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5589259" y="1777008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8" name="Google Shape;4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9259" y="2014538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12"/>
          <p:cNvSpPr/>
          <p:nvPr/>
        </p:nvSpPr>
        <p:spPr>
          <a:xfrm>
            <a:off x="5774996" y="1984177"/>
            <a:ext cx="772948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Aashish Rijal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0" name="Google Shape;48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89259" y="2275284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2"/>
          <p:cNvSpPr/>
          <p:nvPr/>
        </p:nvSpPr>
        <p:spPr>
          <a:xfrm>
            <a:off x="5774996" y="2244923"/>
            <a:ext cx="1042095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Kedar Dhungana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2" name="Google Shape;48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9259" y="2536031"/>
            <a:ext cx="100013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2"/>
          <p:cNvSpPr/>
          <p:nvPr/>
        </p:nvSpPr>
        <p:spPr>
          <a:xfrm>
            <a:off x="5774996" y="2505670"/>
            <a:ext cx="965327" cy="1750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885"/>
              <a:buFont typeface="Calibri"/>
              <a:buNone/>
            </a:pPr>
            <a:r>
              <a:rPr b="1" i="0" lang="en-US" sz="885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Dipesh Devkota</a:t>
            </a:r>
            <a:endParaRPr b="0" i="0" sz="8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589259" y="3943350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052CC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052CC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5589259" y="4150519"/>
            <a:ext cx="2626054" cy="135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091E42"/>
              </a:buClr>
              <a:buSzPts val="683"/>
              <a:buFont typeface="Calibri"/>
              <a:buNone/>
            </a:pPr>
            <a:r>
              <a:rPr b="1" i="0" lang="en-US" sz="683" u="none" cap="none" strike="noStrike">
                <a:solidFill>
                  <a:srgbClr val="091E42"/>
                </a:solidFill>
                <a:latin typeface="Calibri"/>
                <a:ea typeface="Calibri"/>
                <a:cs typeface="Calibri"/>
                <a:sym typeface="Calibri"/>
              </a:rPr>
              <a:t>Mr. Surya Bam</a:t>
            </a:r>
            <a:endParaRPr b="0" i="0" sz="6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2026-02-23T11:59:32Z</dcterms:created>
  <dc:creator>PptxGenJS</dc:creator>
</cp:coreProperties>
</file>