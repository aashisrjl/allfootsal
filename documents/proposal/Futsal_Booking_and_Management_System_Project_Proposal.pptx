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857250"/>
            <a:ext cx="7858125" cy="342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857250"/>
            <a:ext cx="4653428" cy="3429000"/>
          </a:xfrm>
          <a:prstGeom prst="rect">
            <a:avLst/>
          </a:prstGeom>
          <a:solidFill>
            <a:srgbClr val="091E42"/>
          </a:solidFill>
          <a:ln/>
        </p:spPr>
      </p:sp>
      <p:sp>
        <p:nvSpPr>
          <p:cNvPr id="5" name="Shape 2"/>
          <p:cNvSpPr/>
          <p:nvPr/>
        </p:nvSpPr>
        <p:spPr>
          <a:xfrm>
            <a:off x="1071563" y="1528539"/>
            <a:ext cx="3939053" cy="289322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6" name="Text 3"/>
          <p:cNvSpPr/>
          <p:nvPr/>
        </p:nvSpPr>
        <p:spPr>
          <a:xfrm>
            <a:off x="1071563" y="1528539"/>
            <a:ext cx="3939053" cy="289322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PROJECT PROPOSAL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1071563" y="2228766"/>
            <a:ext cx="3939053" cy="1320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FFFFFF"/>
                </a:solidFill>
              </a:rPr>
              <a:t>Futsal Booking and Management System</a:t>
            </a:r>
            <a:endParaRPr lang="en-US" sz="2862" dirty="0"/>
          </a:p>
        </p:txBody>
      </p:sp>
      <p:sp>
        <p:nvSpPr>
          <p:cNvPr id="8" name="Text 5"/>
          <p:cNvSpPr/>
          <p:nvPr/>
        </p:nvSpPr>
        <p:spPr>
          <a:xfrm>
            <a:off x="1071563" y="3634606"/>
            <a:ext cx="393905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</a:rPr>
              <a:t>B.Sc. CSIT | Tribhuvan University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589259" y="1143000"/>
            <a:ext cx="262605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Submitted By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5589259" y="1314450"/>
            <a:ext cx="26260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91E42"/>
                </a:solidFill>
              </a:rPr>
              <a:t>Aashish Rijal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5589259" y="1518047"/>
            <a:ext cx="26260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91E42"/>
                </a:solidFill>
              </a:rPr>
              <a:t>Kedar Dhungana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5589259" y="1721644"/>
            <a:ext cx="26260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91E42"/>
                </a:solidFill>
              </a:rPr>
              <a:t>Dipesh Devkota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5589259" y="2039541"/>
            <a:ext cx="262605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Under the Supervision of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5589259" y="2210991"/>
            <a:ext cx="26260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91E42"/>
                </a:solidFill>
              </a:rPr>
              <a:t>Mr. Surya Bam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5589259" y="3286125"/>
            <a:ext cx="262605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Institution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5589259" y="3457575"/>
            <a:ext cx="2626054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91E42"/>
                </a:solidFill>
              </a:rPr>
              <a:t>Asian School of Management and Technology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5589259" y="3864769"/>
            <a:ext cx="262605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91E42"/>
                </a:solidFill>
              </a:rPr>
              <a:t>February 15, 2026</a:t>
            </a:r>
            <a:endParaRPr lang="en-US" sz="68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91E42"/>
                </a:solidFill>
              </a:rPr>
              <a:t>Introduction &amp; Background</a:t>
            </a:r>
            <a:endParaRPr lang="en-US" sz="2436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97459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8675" y="1066205"/>
            <a:ext cx="161540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2CC"/>
                </a:solidFill>
              </a:rPr>
              <a:t>Current Landscape</a:t>
            </a:r>
            <a:endParaRPr lang="en-US" sz="1193" dirty="0"/>
          </a:p>
        </p:txBody>
      </p:sp>
      <p:sp>
        <p:nvSpPr>
          <p:cNvPr id="6" name="Shape 2"/>
          <p:cNvSpPr/>
          <p:nvPr/>
        </p:nvSpPr>
        <p:spPr>
          <a:xfrm>
            <a:off x="571500" y="1400175"/>
            <a:ext cx="3871913" cy="8286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3"/>
          <p:cNvSpPr/>
          <p:nvPr/>
        </p:nvSpPr>
        <p:spPr>
          <a:xfrm>
            <a:off x="571500" y="1400175"/>
            <a:ext cx="3871913" cy="2857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8" name="Text 4"/>
          <p:cNvSpPr/>
          <p:nvPr/>
        </p:nvSpPr>
        <p:spPr>
          <a:xfrm>
            <a:off x="700088" y="1485900"/>
            <a:ext cx="36147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91E42"/>
                </a:solidFill>
              </a:rPr>
              <a:t>Futsal Growth in Nepal</a:t>
            </a:r>
            <a:endParaRPr lang="en-US" sz="885" dirty="0"/>
          </a:p>
        </p:txBody>
      </p:sp>
      <p:sp>
        <p:nvSpPr>
          <p:cNvPr id="9" name="Text 5"/>
          <p:cNvSpPr/>
          <p:nvPr/>
        </p:nvSpPr>
        <p:spPr>
          <a:xfrm>
            <a:off x="700088" y="1703784"/>
            <a:ext cx="36147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526E"/>
                </a:solidFill>
              </a:rPr>
              <a:t>Rapid increase in urban futsal centers due to rising interest in indoor football and recreation.</a:t>
            </a:r>
            <a:endParaRPr lang="en-US" sz="834" dirty="0"/>
          </a:p>
        </p:txBody>
      </p:sp>
      <p:sp>
        <p:nvSpPr>
          <p:cNvPr id="10" name="Shape 6"/>
          <p:cNvSpPr/>
          <p:nvPr/>
        </p:nvSpPr>
        <p:spPr>
          <a:xfrm>
            <a:off x="571500" y="2286000"/>
            <a:ext cx="3871913" cy="8286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571500" y="2286000"/>
            <a:ext cx="3871913" cy="2857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2" name="Text 8"/>
          <p:cNvSpPr/>
          <p:nvPr/>
        </p:nvSpPr>
        <p:spPr>
          <a:xfrm>
            <a:off x="700088" y="2371725"/>
            <a:ext cx="361473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91E42"/>
                </a:solidFill>
              </a:rPr>
              <a:t>Manual Dependency </a:t>
            </a:r>
            <a:pPr algn="l" indent="0" marL="0">
              <a:lnSpc>
                <a:spcPts val="1200"/>
              </a:lnSpc>
              <a:buNone/>
            </a:pPr>
            <a:r>
              <a:rPr lang="en-US" sz="683" b="1" baseline="30000" dirty="0">
                <a:solidFill>
                  <a:srgbClr val="0052CC"/>
                </a:solidFill>
              </a:rPr>
              <a:t>[1]</a:t>
            </a:r>
            <a:endParaRPr lang="en-US" sz="885" dirty="0"/>
          </a:p>
        </p:txBody>
      </p:sp>
      <p:sp>
        <p:nvSpPr>
          <p:cNvPr id="13" name="Text 9"/>
          <p:cNvSpPr/>
          <p:nvPr/>
        </p:nvSpPr>
        <p:spPr>
          <a:xfrm>
            <a:off x="700088" y="2603897"/>
            <a:ext cx="36147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526E"/>
                </a:solidFill>
              </a:rPr>
              <a:t>Most facilities rely on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phone calls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526E"/>
                </a:solidFill>
              </a:rPr>
              <a:t>,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social media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526E"/>
                </a:solidFill>
              </a:rPr>
              <a:t>, or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paper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registers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526E"/>
                </a:solidFill>
              </a:rPr>
              <a:t> for bookings.</a:t>
            </a:r>
            <a:endParaRPr lang="en-US" sz="834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588" y="1097459"/>
            <a:ext cx="171450" cy="1714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57763" y="1066205"/>
            <a:ext cx="155351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2CC"/>
                </a:solidFill>
              </a:rPr>
              <a:t>Proposed Solution</a:t>
            </a:r>
            <a:endParaRPr lang="en-US" sz="1193" dirty="0"/>
          </a:p>
        </p:txBody>
      </p:sp>
      <p:sp>
        <p:nvSpPr>
          <p:cNvPr id="16" name="Shape 11"/>
          <p:cNvSpPr/>
          <p:nvPr/>
        </p:nvSpPr>
        <p:spPr>
          <a:xfrm>
            <a:off x="4700588" y="1400175"/>
            <a:ext cx="3871913" cy="8286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4700588" y="1400175"/>
            <a:ext cx="3871913" cy="2857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8" name="Text 13"/>
          <p:cNvSpPr/>
          <p:nvPr/>
        </p:nvSpPr>
        <p:spPr>
          <a:xfrm>
            <a:off x="4829175" y="1485900"/>
            <a:ext cx="361473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91E42"/>
                </a:solidFill>
              </a:rPr>
              <a:t>Multi-Tenant SaaS Platform </a:t>
            </a:r>
            <a:pPr algn="l" indent="0" marL="0">
              <a:lnSpc>
                <a:spcPts val="1200"/>
              </a:lnSpc>
              <a:buNone/>
            </a:pPr>
            <a:r>
              <a:rPr lang="en-US" sz="683" b="1" baseline="30000" dirty="0">
                <a:solidFill>
                  <a:srgbClr val="0052CC"/>
                </a:solidFill>
              </a:rPr>
              <a:t>[2]</a:t>
            </a:r>
            <a:endParaRPr lang="en-US" sz="885" dirty="0"/>
          </a:p>
        </p:txBody>
      </p:sp>
      <p:sp>
        <p:nvSpPr>
          <p:cNvPr id="19" name="Text 14"/>
          <p:cNvSpPr/>
          <p:nvPr/>
        </p:nvSpPr>
        <p:spPr>
          <a:xfrm>
            <a:off x="4829175" y="1718072"/>
            <a:ext cx="36147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526E"/>
                </a:solidFill>
              </a:rPr>
              <a:t>Centralized web-based system allowing multiple businesses to operate independently on shared infrastructure.</a:t>
            </a:r>
            <a:endParaRPr lang="en-US" sz="834" dirty="0"/>
          </a:p>
        </p:txBody>
      </p:sp>
      <p:sp>
        <p:nvSpPr>
          <p:cNvPr id="20" name="Shape 15"/>
          <p:cNvSpPr/>
          <p:nvPr/>
        </p:nvSpPr>
        <p:spPr>
          <a:xfrm>
            <a:off x="4700588" y="2286000"/>
            <a:ext cx="3871913" cy="8286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6"/>
          <p:cNvSpPr/>
          <p:nvPr/>
        </p:nvSpPr>
        <p:spPr>
          <a:xfrm>
            <a:off x="4700588" y="2286000"/>
            <a:ext cx="3871913" cy="2857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2" name="Text 17"/>
          <p:cNvSpPr/>
          <p:nvPr/>
        </p:nvSpPr>
        <p:spPr>
          <a:xfrm>
            <a:off x="4829175" y="2371725"/>
            <a:ext cx="36147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91E42"/>
                </a:solidFill>
              </a:rPr>
              <a:t>Smart Innovation</a:t>
            </a:r>
            <a:endParaRPr lang="en-US" sz="885" dirty="0"/>
          </a:p>
        </p:txBody>
      </p:sp>
      <p:sp>
        <p:nvSpPr>
          <p:cNvPr id="23" name="Text 18"/>
          <p:cNvSpPr/>
          <p:nvPr/>
        </p:nvSpPr>
        <p:spPr>
          <a:xfrm>
            <a:off x="4829175" y="2589609"/>
            <a:ext cx="36147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526E"/>
                </a:solidFill>
              </a:rPr>
              <a:t>Integration of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AI/ML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526E"/>
                </a:solidFill>
              </a:rPr>
              <a:t> for automated review summarization and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526E"/>
                </a:solidFill>
              </a:rPr>
              <a:t>proximity-based recommendations.</a:t>
            </a:r>
            <a:endParaRPr lang="en-US" sz="83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91E42"/>
                </a:solidFill>
              </a:rPr>
              <a:t>Problem Statement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109067"/>
            <a:ext cx="8001000" cy="892969"/>
          </a:xfrm>
          <a:prstGeom prst="rect">
            <a:avLst/>
          </a:prstGeom>
          <a:solidFill>
            <a:srgbClr val="091E42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09067"/>
            <a:ext cx="42863" cy="892969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109067"/>
            <a:ext cx="8001000" cy="892969"/>
          </a:xfrm>
          <a:prstGeom prst="rect">
            <a:avLst/>
          </a:prstGeom>
          <a:noFill/>
          <a:ln/>
        </p:spPr>
        <p:txBody>
          <a:bodyPr wrap="square" lIns="255143" tIns="212598" rIns="255143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Current futsal management relies on outdated manual systems, leading to operational inefficiencies, poor customer experience, and a lack of data-driven business insights.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571500" y="2287786"/>
            <a:ext cx="2524116" cy="19931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2287786"/>
            <a:ext cx="2524116" cy="2857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9" name="Shape 6"/>
          <p:cNvSpPr/>
          <p:nvPr/>
        </p:nvSpPr>
        <p:spPr>
          <a:xfrm>
            <a:off x="714375" y="2466380"/>
            <a:ext cx="357188" cy="357188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244" y="2559248"/>
            <a:ext cx="171450" cy="1714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4375" y="2966442"/>
            <a:ext cx="223836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91E42"/>
                </a:solidFill>
              </a:rPr>
              <a:t>Operational Chaos</a:t>
            </a:r>
            <a:endParaRPr lang="en-US" sz="987" dirty="0"/>
          </a:p>
        </p:txBody>
      </p:sp>
      <p:sp>
        <p:nvSpPr>
          <p:cNvPr id="12" name="Text 8"/>
          <p:cNvSpPr/>
          <p:nvPr/>
        </p:nvSpPr>
        <p:spPr>
          <a:xfrm>
            <a:off x="714375" y="3268266"/>
            <a:ext cx="2238366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2526E"/>
                </a:solidFill>
              </a:rPr>
              <a:t>Manual bookings via phone/social media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2526E"/>
                </a:solidFill>
              </a:rPr>
              <a:t>cause </a:t>
            </a:r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double bookings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2526E"/>
                </a:solidFill>
              </a:rPr>
              <a:t>, scheduling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2526E"/>
                </a:solidFill>
              </a:rPr>
              <a:t>conflicts, and inaccurate record-keeping.</a:t>
            </a:r>
            <a:endParaRPr lang="en-US" sz="780" dirty="0"/>
          </a:p>
        </p:txBody>
      </p:sp>
      <p:sp>
        <p:nvSpPr>
          <p:cNvPr id="13" name="Shape 9"/>
          <p:cNvSpPr/>
          <p:nvPr/>
        </p:nvSpPr>
        <p:spPr>
          <a:xfrm>
            <a:off x="3309928" y="2287786"/>
            <a:ext cx="2524116" cy="19931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3309928" y="2287786"/>
            <a:ext cx="2524116" cy="2857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5" name="Shape 11"/>
          <p:cNvSpPr/>
          <p:nvPr/>
        </p:nvSpPr>
        <p:spPr>
          <a:xfrm>
            <a:off x="3452803" y="2466380"/>
            <a:ext cx="357188" cy="357188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5672" y="2559248"/>
            <a:ext cx="171450" cy="1714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452803" y="2966442"/>
            <a:ext cx="223836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91E42"/>
                </a:solidFill>
              </a:rPr>
              <a:t>Discovery Barriers</a:t>
            </a:r>
            <a:endParaRPr lang="en-US" sz="987" dirty="0"/>
          </a:p>
        </p:txBody>
      </p:sp>
      <p:sp>
        <p:nvSpPr>
          <p:cNvPr id="18" name="Text 13"/>
          <p:cNvSpPr/>
          <p:nvPr/>
        </p:nvSpPr>
        <p:spPr>
          <a:xfrm>
            <a:off x="3452803" y="3268266"/>
            <a:ext cx="2238366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2526E"/>
                </a:solidFill>
              </a:rPr>
              <a:t>No centralized platform for players to </a:t>
            </a:r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discover and compare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2526E"/>
                </a:solidFill>
              </a:rPr>
              <a:t> multiple courts,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2526E"/>
                </a:solidFill>
              </a:rPr>
              <a:t>prices, and verified reviews.</a:t>
            </a:r>
            <a:endParaRPr lang="en-US" sz="780" dirty="0"/>
          </a:p>
        </p:txBody>
      </p:sp>
      <p:sp>
        <p:nvSpPr>
          <p:cNvPr id="19" name="Shape 14"/>
          <p:cNvSpPr/>
          <p:nvPr/>
        </p:nvSpPr>
        <p:spPr>
          <a:xfrm>
            <a:off x="6048356" y="2287786"/>
            <a:ext cx="2524116" cy="19931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6048356" y="2287786"/>
            <a:ext cx="2524116" cy="2857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1" name="Shape 16"/>
          <p:cNvSpPr/>
          <p:nvPr/>
        </p:nvSpPr>
        <p:spPr>
          <a:xfrm>
            <a:off x="6191231" y="2466380"/>
            <a:ext cx="357188" cy="357188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4100" y="2559248"/>
            <a:ext cx="171450" cy="1714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191231" y="2966442"/>
            <a:ext cx="223836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91E42"/>
                </a:solidFill>
              </a:rPr>
              <a:t>Business Intelligence Gap</a:t>
            </a:r>
            <a:endParaRPr lang="en-US" sz="987" dirty="0"/>
          </a:p>
        </p:txBody>
      </p:sp>
      <p:sp>
        <p:nvSpPr>
          <p:cNvPr id="24" name="Text 18"/>
          <p:cNvSpPr/>
          <p:nvPr/>
        </p:nvSpPr>
        <p:spPr>
          <a:xfrm>
            <a:off x="6191231" y="3268266"/>
            <a:ext cx="2238366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2526E"/>
                </a:solidFill>
              </a:rPr>
              <a:t>Owners lack access to </a:t>
            </a:r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revenue analysis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2526E"/>
                </a:solidFill>
              </a:rPr>
              <a:t>,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2526E"/>
                </a:solidFill>
              </a:rPr>
              <a:t>usage trends, and modern AI tools like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2526E"/>
                </a:solidFill>
              </a:rPr>
              <a:t>sentiment analysis.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91E42"/>
                </a:solidFill>
              </a:rPr>
              <a:t>Project Objectives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180505"/>
            <a:ext cx="1893094" cy="2964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80505"/>
            <a:ext cx="1893094" cy="35719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6" name="Shape 3"/>
          <p:cNvSpPr/>
          <p:nvPr/>
        </p:nvSpPr>
        <p:spPr>
          <a:xfrm>
            <a:off x="1303734" y="1394817"/>
            <a:ext cx="428625" cy="428625"/>
          </a:xfrm>
          <a:prstGeom prst="rect">
            <a:avLst/>
          </a:prstGeom>
          <a:solidFill>
            <a:srgbClr val="F4F5F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034" y="1509117"/>
            <a:ext cx="200025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8501" y="2002036"/>
            <a:ext cx="14790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91E42"/>
                </a:solidFill>
              </a:rPr>
              <a:t>Centralized Platform</a:t>
            </a:r>
            <a:endParaRPr lang="en-US" sz="987" dirty="0"/>
          </a:p>
        </p:txBody>
      </p:sp>
      <p:sp>
        <p:nvSpPr>
          <p:cNvPr id="9" name="Text 5"/>
          <p:cNvSpPr/>
          <p:nvPr/>
        </p:nvSpPr>
        <p:spPr>
          <a:xfrm>
            <a:off x="714375" y="2280642"/>
            <a:ext cx="1607344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Develop a unified web portal for </a:t>
            </a:r>
            <a:pPr algn="ctr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real-time discovery</a:t>
            </a:r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 and court </a:t>
            </a:r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booking, ensuring accessibility for </a:t>
            </a:r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all users.</a:t>
            </a:r>
            <a:endParaRPr lang="en-US" sz="727" dirty="0"/>
          </a:p>
        </p:txBody>
      </p:sp>
      <p:sp>
        <p:nvSpPr>
          <p:cNvPr id="10" name="Shape 6"/>
          <p:cNvSpPr/>
          <p:nvPr/>
        </p:nvSpPr>
        <p:spPr>
          <a:xfrm>
            <a:off x="2607469" y="1180505"/>
            <a:ext cx="1893094" cy="2964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2607469" y="1180505"/>
            <a:ext cx="1893094" cy="35719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2" name="Shape 8"/>
          <p:cNvSpPr/>
          <p:nvPr/>
        </p:nvSpPr>
        <p:spPr>
          <a:xfrm>
            <a:off x="3339703" y="1394817"/>
            <a:ext cx="428625" cy="428625"/>
          </a:xfrm>
          <a:prstGeom prst="rect">
            <a:avLst/>
          </a:prstGeom>
          <a:solidFill>
            <a:srgbClr val="F4F5F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003" y="1509117"/>
            <a:ext cx="200025" cy="2000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14790" y="2002036"/>
            <a:ext cx="127845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91E42"/>
                </a:solidFill>
              </a:rPr>
              <a:t>Multi-Tenant SaaS</a:t>
            </a:r>
            <a:endParaRPr lang="en-US" sz="987" dirty="0"/>
          </a:p>
        </p:txBody>
      </p:sp>
      <p:sp>
        <p:nvSpPr>
          <p:cNvPr id="15" name="Text 10"/>
          <p:cNvSpPr/>
          <p:nvPr/>
        </p:nvSpPr>
        <p:spPr>
          <a:xfrm>
            <a:off x="2750344" y="2280642"/>
            <a:ext cx="1607344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Implement a </a:t>
            </a:r>
            <a:pPr algn="ctr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scalable </a:t>
            </a:r>
            <a:pPr algn="ctr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architecture</a:t>
            </a:r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 allowing multiple </a:t>
            </a:r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futsal facilities to operate </a:t>
            </a:r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independently within one system.</a:t>
            </a:r>
            <a:endParaRPr lang="en-US" sz="727" dirty="0"/>
          </a:p>
        </p:txBody>
      </p:sp>
      <p:sp>
        <p:nvSpPr>
          <p:cNvPr id="16" name="Shape 11"/>
          <p:cNvSpPr/>
          <p:nvPr/>
        </p:nvSpPr>
        <p:spPr>
          <a:xfrm>
            <a:off x="4643438" y="1180505"/>
            <a:ext cx="1893094" cy="2964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4643438" y="1180505"/>
            <a:ext cx="1893094" cy="35719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8" name="Shape 13"/>
          <p:cNvSpPr/>
          <p:nvPr/>
        </p:nvSpPr>
        <p:spPr>
          <a:xfrm>
            <a:off x="5375672" y="1394817"/>
            <a:ext cx="428625" cy="428625"/>
          </a:xfrm>
          <a:prstGeom prst="rect">
            <a:avLst/>
          </a:prstGeom>
          <a:solidFill>
            <a:srgbClr val="F4F5F7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4969" y="1509117"/>
            <a:ext cx="250031" cy="2000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842793" y="2002036"/>
            <a:ext cx="149435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91E42"/>
                </a:solidFill>
              </a:rPr>
              <a:t>Community Features</a:t>
            </a:r>
            <a:endParaRPr lang="en-US" sz="987" dirty="0"/>
          </a:p>
        </p:txBody>
      </p:sp>
      <p:sp>
        <p:nvSpPr>
          <p:cNvPr id="21" name="Text 15"/>
          <p:cNvSpPr/>
          <p:nvPr/>
        </p:nvSpPr>
        <p:spPr>
          <a:xfrm>
            <a:off x="4786313" y="2280642"/>
            <a:ext cx="1607344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Enable </a:t>
            </a:r>
            <a:pPr algn="ctr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verified ratings</a:t>
            </a:r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, reviews, </a:t>
            </a:r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and discussion forums to </a:t>
            </a:r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enhance user interaction and </a:t>
            </a:r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trust.</a:t>
            </a:r>
            <a:endParaRPr lang="en-US" sz="727" dirty="0"/>
          </a:p>
        </p:txBody>
      </p:sp>
      <p:sp>
        <p:nvSpPr>
          <p:cNvPr id="22" name="Shape 16"/>
          <p:cNvSpPr/>
          <p:nvPr/>
        </p:nvSpPr>
        <p:spPr>
          <a:xfrm>
            <a:off x="6679406" y="1180505"/>
            <a:ext cx="1893094" cy="2964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6679406" y="1180505"/>
            <a:ext cx="1893094" cy="35719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4" name="Shape 18"/>
          <p:cNvSpPr/>
          <p:nvPr/>
        </p:nvSpPr>
        <p:spPr>
          <a:xfrm>
            <a:off x="7411641" y="1394817"/>
            <a:ext cx="428625" cy="428625"/>
          </a:xfrm>
          <a:prstGeom prst="rect">
            <a:avLst/>
          </a:prstGeom>
          <a:solidFill>
            <a:srgbClr val="F4F5F7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5941" y="1509117"/>
            <a:ext cx="200025" cy="20002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981788" y="2002036"/>
            <a:ext cx="12883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91E42"/>
                </a:solidFill>
              </a:rPr>
              <a:t>AI/ML Integration</a:t>
            </a:r>
            <a:endParaRPr lang="en-US" sz="987" dirty="0"/>
          </a:p>
        </p:txBody>
      </p:sp>
      <p:sp>
        <p:nvSpPr>
          <p:cNvPr id="27" name="Text 20"/>
          <p:cNvSpPr/>
          <p:nvPr/>
        </p:nvSpPr>
        <p:spPr>
          <a:xfrm>
            <a:off x="6822281" y="2280642"/>
            <a:ext cx="1607344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Integrate </a:t>
            </a:r>
            <a:pPr algn="ctr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sentiment analysis</a:t>
            </a:r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 and review summarization for </a:t>
            </a:r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smarter business decision-</a:t>
            </a:r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making.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91E42"/>
                </a:solidFill>
              </a:rPr>
              <a:t>Literature Review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180505"/>
            <a:ext cx="8001000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80505"/>
            <a:ext cx="28575" cy="857250"/>
          </a:xfrm>
          <a:prstGeom prst="rect">
            <a:avLst/>
          </a:prstGeom>
          <a:solidFill>
            <a:srgbClr val="0052C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346597"/>
            <a:ext cx="112514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9764" y="1323380"/>
            <a:ext cx="145394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Suhaimi &amp; Sahid (2021)</a:t>
            </a:r>
            <a:endParaRPr lang="en-US" sz="885" dirty="0"/>
          </a:p>
        </p:txBody>
      </p:sp>
      <p:sp>
        <p:nvSpPr>
          <p:cNvPr id="8" name="Shape 4"/>
          <p:cNvSpPr/>
          <p:nvPr/>
        </p:nvSpPr>
        <p:spPr>
          <a:xfrm>
            <a:off x="2566588" y="1338560"/>
            <a:ext cx="722886" cy="144661"/>
          </a:xfrm>
          <a:prstGeom prst="rect">
            <a:avLst/>
          </a:prstGeom>
          <a:solidFill>
            <a:srgbClr val="E6EFFC"/>
          </a:solidFill>
          <a:ln/>
        </p:spPr>
      </p:sp>
      <p:sp>
        <p:nvSpPr>
          <p:cNvPr id="9" name="Text 5"/>
          <p:cNvSpPr/>
          <p:nvPr/>
        </p:nvSpPr>
        <p:spPr>
          <a:xfrm>
            <a:off x="2566588" y="1338560"/>
            <a:ext cx="722886" cy="14466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52CC"/>
                </a:solidFill>
              </a:rPr>
              <a:t>DIGITAL SHIFT</a:t>
            </a:r>
            <a:endParaRPr lang="en-US" sz="584" dirty="0"/>
          </a:p>
        </p:txBody>
      </p:sp>
      <p:sp>
        <p:nvSpPr>
          <p:cNvPr id="10" name="Text 6"/>
          <p:cNvSpPr/>
          <p:nvPr/>
        </p:nvSpPr>
        <p:spPr>
          <a:xfrm>
            <a:off x="785813" y="1555552"/>
            <a:ext cx="7572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526E"/>
                </a:solidFill>
              </a:rPr>
              <a:t>Research highlights the necessity of replacing manual logbooks with database-driven platforms to improve booking visibility and scheduling clarity.</a:t>
            </a:r>
            <a:endParaRPr lang="en-US" sz="834" dirty="0"/>
          </a:p>
        </p:txBody>
      </p:sp>
      <p:sp>
        <p:nvSpPr>
          <p:cNvPr id="11" name="Shape 7"/>
          <p:cNvSpPr/>
          <p:nvPr/>
        </p:nvSpPr>
        <p:spPr>
          <a:xfrm>
            <a:off x="571500" y="2180630"/>
            <a:ext cx="8001000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571500" y="2180630"/>
            <a:ext cx="28575" cy="857250"/>
          </a:xfrm>
          <a:prstGeom prst="rect">
            <a:avLst/>
          </a:prstGeom>
          <a:solidFill>
            <a:srgbClr val="0052C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2346722"/>
            <a:ext cx="128588" cy="1285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85838" y="2323505"/>
            <a:ext cx="110175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Fauzi et al. (2022)</a:t>
            </a:r>
            <a:endParaRPr lang="en-US" sz="885" dirty="0"/>
          </a:p>
        </p:txBody>
      </p:sp>
      <p:sp>
        <p:nvSpPr>
          <p:cNvPr id="15" name="Shape 10"/>
          <p:cNvSpPr/>
          <p:nvPr/>
        </p:nvSpPr>
        <p:spPr>
          <a:xfrm>
            <a:off x="2230469" y="2338685"/>
            <a:ext cx="1234139" cy="144661"/>
          </a:xfrm>
          <a:prstGeom prst="rect">
            <a:avLst/>
          </a:prstGeom>
          <a:solidFill>
            <a:srgbClr val="E6EFFC"/>
          </a:solidFill>
          <a:ln/>
        </p:spPr>
      </p:sp>
      <p:sp>
        <p:nvSpPr>
          <p:cNvPr id="16" name="Text 11"/>
          <p:cNvSpPr/>
          <p:nvPr/>
        </p:nvSpPr>
        <p:spPr>
          <a:xfrm>
            <a:off x="2230469" y="2338685"/>
            <a:ext cx="1234139" cy="14466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52CC"/>
                </a:solidFill>
              </a:rPr>
              <a:t>OPERATIONAL EFFICIENCY</a:t>
            </a:r>
            <a:endParaRPr lang="en-US" sz="584" dirty="0"/>
          </a:p>
        </p:txBody>
      </p:sp>
      <p:sp>
        <p:nvSpPr>
          <p:cNvPr id="17" name="Text 12"/>
          <p:cNvSpPr/>
          <p:nvPr/>
        </p:nvSpPr>
        <p:spPr>
          <a:xfrm>
            <a:off x="785813" y="2555677"/>
            <a:ext cx="7572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526E"/>
                </a:solidFill>
              </a:rPr>
              <a:t>Web-based systems significantly increase accessibility and customer reach while reducing the risks associated with hand-written rental processes.</a:t>
            </a:r>
            <a:endParaRPr lang="en-US" sz="834" dirty="0"/>
          </a:p>
        </p:txBody>
      </p:sp>
      <p:sp>
        <p:nvSpPr>
          <p:cNvPr id="18" name="Shape 13"/>
          <p:cNvSpPr/>
          <p:nvPr/>
        </p:nvSpPr>
        <p:spPr>
          <a:xfrm>
            <a:off x="571500" y="3180755"/>
            <a:ext cx="8001000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571500" y="3180755"/>
            <a:ext cx="28575" cy="857250"/>
          </a:xfrm>
          <a:prstGeom prst="rect">
            <a:avLst/>
          </a:prstGeom>
          <a:solidFill>
            <a:srgbClr val="0052C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3346847"/>
            <a:ext cx="160734" cy="1285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17984" y="3323630"/>
            <a:ext cx="147415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Modern System Design</a:t>
            </a:r>
            <a:endParaRPr lang="en-US" sz="885" dirty="0"/>
          </a:p>
        </p:txBody>
      </p:sp>
      <p:sp>
        <p:nvSpPr>
          <p:cNvPr id="22" name="Shape 16"/>
          <p:cNvSpPr/>
          <p:nvPr/>
        </p:nvSpPr>
        <p:spPr>
          <a:xfrm>
            <a:off x="2635011" y="3338810"/>
            <a:ext cx="989912" cy="144661"/>
          </a:xfrm>
          <a:prstGeom prst="rect">
            <a:avLst/>
          </a:prstGeom>
          <a:solidFill>
            <a:srgbClr val="E6EFFC"/>
          </a:solidFill>
          <a:ln/>
        </p:spPr>
      </p:sp>
      <p:sp>
        <p:nvSpPr>
          <p:cNvPr id="23" name="Text 17"/>
          <p:cNvSpPr/>
          <p:nvPr/>
        </p:nvSpPr>
        <p:spPr>
          <a:xfrm>
            <a:off x="2635011" y="3338810"/>
            <a:ext cx="989912" cy="14466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52CC"/>
                </a:solidFill>
              </a:rPr>
              <a:t>SAAS ARCHITECTURE</a:t>
            </a:r>
            <a:endParaRPr lang="en-US" sz="584" dirty="0"/>
          </a:p>
        </p:txBody>
      </p:sp>
      <p:sp>
        <p:nvSpPr>
          <p:cNvPr id="24" name="Text 18"/>
          <p:cNvSpPr/>
          <p:nvPr/>
        </p:nvSpPr>
        <p:spPr>
          <a:xfrm>
            <a:off x="785813" y="3555802"/>
            <a:ext cx="7572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526E"/>
                </a:solidFill>
              </a:rPr>
              <a:t>Multi-tenant SaaS architecture is recommended for shared platforms to ensure proper data isolation and scalability for independent facility owners.</a:t>
            </a:r>
            <a:endParaRPr lang="en-US" sz="834" dirty="0"/>
          </a:p>
        </p:txBody>
      </p:sp>
      <p:sp>
        <p:nvSpPr>
          <p:cNvPr id="25" name="Shape 19"/>
          <p:cNvSpPr/>
          <p:nvPr/>
        </p:nvSpPr>
        <p:spPr>
          <a:xfrm>
            <a:off x="571500" y="4180880"/>
            <a:ext cx="8001000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0"/>
          <p:cNvSpPr/>
          <p:nvPr/>
        </p:nvSpPr>
        <p:spPr>
          <a:xfrm>
            <a:off x="571500" y="4180880"/>
            <a:ext cx="28575" cy="857250"/>
          </a:xfrm>
          <a:prstGeom prst="rect">
            <a:avLst/>
          </a:prstGeom>
          <a:solidFill>
            <a:srgbClr val="0052CC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4346972"/>
            <a:ext cx="128588" cy="1285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85838" y="4323755"/>
            <a:ext cx="161995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Machine Learning Trends</a:t>
            </a:r>
            <a:endParaRPr lang="en-US" sz="885" dirty="0"/>
          </a:p>
        </p:txBody>
      </p:sp>
      <p:sp>
        <p:nvSpPr>
          <p:cNvPr id="29" name="Shape 22"/>
          <p:cNvSpPr/>
          <p:nvPr/>
        </p:nvSpPr>
        <p:spPr>
          <a:xfrm>
            <a:off x="2748669" y="4338935"/>
            <a:ext cx="787850" cy="144661"/>
          </a:xfrm>
          <a:prstGeom prst="rect">
            <a:avLst/>
          </a:prstGeom>
          <a:solidFill>
            <a:srgbClr val="E6EFFC"/>
          </a:solidFill>
          <a:ln/>
        </p:spPr>
      </p:sp>
      <p:sp>
        <p:nvSpPr>
          <p:cNvPr id="30" name="Text 23"/>
          <p:cNvSpPr/>
          <p:nvPr/>
        </p:nvSpPr>
        <p:spPr>
          <a:xfrm>
            <a:off x="2748669" y="4338935"/>
            <a:ext cx="787850" cy="14466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52CC"/>
                </a:solidFill>
              </a:rPr>
              <a:t>AI &amp; ANALYTICS</a:t>
            </a:r>
            <a:endParaRPr lang="en-US" sz="584" dirty="0"/>
          </a:p>
        </p:txBody>
      </p:sp>
      <p:sp>
        <p:nvSpPr>
          <p:cNvPr id="31" name="Text 24"/>
          <p:cNvSpPr/>
          <p:nvPr/>
        </p:nvSpPr>
        <p:spPr>
          <a:xfrm>
            <a:off x="785813" y="4555927"/>
            <a:ext cx="7572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526E"/>
                </a:solidFill>
              </a:rPr>
              <a:t>Increasing application of Logistic Regression and TF-IDF for sentiment analysis and text feature extraction in user engagement platforms.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91E42"/>
                </a:solidFill>
              </a:rPr>
              <a:t>Development Methodology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066205"/>
            <a:ext cx="3714750" cy="714375"/>
          </a:xfrm>
          <a:prstGeom prst="rect">
            <a:avLst/>
          </a:prstGeom>
          <a:solidFill>
            <a:srgbClr val="091E42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66205"/>
            <a:ext cx="42863" cy="71437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066205"/>
            <a:ext cx="3714750" cy="714375"/>
          </a:xfrm>
          <a:prstGeom prst="rect">
            <a:avLst/>
          </a:prstGeom>
          <a:noFill/>
          <a:ln/>
        </p:spPr>
        <p:txBody>
          <a:bodyPr wrap="square" lIns="212598" tIns="170053" rIns="212598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The project follows the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Agile Development Model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683" b="1" baseline="30000" dirty="0">
                <a:solidFill>
                  <a:srgbClr val="0052CC"/>
                </a:solidFill>
              </a:rPr>
              <a:t>[3]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,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emphasizing iterative progress and continuous feedback.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571500" y="1959173"/>
            <a:ext cx="10001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→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714375" y="1959173"/>
            <a:ext cx="4731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91E42"/>
                </a:solidFill>
              </a:rPr>
              <a:t>Planning: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1187537" y="1959173"/>
            <a:ext cx="188315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Requirement gathering &amp; prioritization.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571500" y="2180630"/>
            <a:ext cx="10001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→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714375" y="2180630"/>
            <a:ext cx="47067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91E42"/>
                </a:solidFill>
              </a:rPr>
              <a:t>Core Dev: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1185053" y="2180630"/>
            <a:ext cx="164230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Auth, Search, and Booking engine.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571500" y="2402086"/>
            <a:ext cx="10001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→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714375" y="2402086"/>
            <a:ext cx="5176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91E42"/>
                </a:solidFill>
              </a:rPr>
              <a:t>Advanced: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1232046" y="2402086"/>
            <a:ext cx="21362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AI Sentiment &amp; Proximity Recommendations.</a:t>
            </a:r>
            <a:endParaRPr lang="en-US" sz="727" dirty="0"/>
          </a:p>
        </p:txBody>
      </p:sp>
      <p:sp>
        <p:nvSpPr>
          <p:cNvPr id="16" name="Shape 13"/>
          <p:cNvSpPr/>
          <p:nvPr/>
        </p:nvSpPr>
        <p:spPr>
          <a:xfrm>
            <a:off x="4572000" y="1066205"/>
            <a:ext cx="4000500" cy="285928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4572000" y="1066205"/>
            <a:ext cx="4000500" cy="28575"/>
          </a:xfrm>
          <a:prstGeom prst="rect">
            <a:avLst/>
          </a:prstGeom>
          <a:solidFill>
            <a:srgbClr val="0052CC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906" y="1209080"/>
            <a:ext cx="3214688" cy="250031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081033" y="3780830"/>
            <a:ext cx="98243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i="1" dirty="0">
                <a:solidFill>
                  <a:srgbClr val="42526E"/>
                </a:solidFill>
              </a:rPr>
              <a:t>Fig: Agile Methodology [3]</a:t>
            </a:r>
            <a:endParaRPr lang="en-US" sz="62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91E42"/>
                </a:solidFill>
              </a:rPr>
              <a:t>Functional Requirements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066205"/>
            <a:ext cx="3714750" cy="9644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66205"/>
            <a:ext cx="28575" cy="964406"/>
          </a:xfrm>
          <a:prstGeom prst="rect">
            <a:avLst/>
          </a:prstGeom>
          <a:solidFill>
            <a:srgbClr val="0052C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196578"/>
            <a:ext cx="112514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8327" y="1173361"/>
            <a:ext cx="56684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91E42"/>
                </a:solidFill>
              </a:rPr>
              <a:t>End User</a:t>
            </a:r>
            <a:endParaRPr lang="en-US" sz="885" dirty="0"/>
          </a:p>
        </p:txBody>
      </p:sp>
      <p:sp>
        <p:nvSpPr>
          <p:cNvPr id="8" name="Text 4"/>
          <p:cNvSpPr/>
          <p:nvPr/>
        </p:nvSpPr>
        <p:spPr>
          <a:xfrm>
            <a:off x="714375" y="1405533"/>
            <a:ext cx="3490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0052CC"/>
                </a:solidFill>
              </a:rPr>
              <a:t>•</a:t>
            </a:r>
            <a:endParaRPr lang="en-US" sz="674" dirty="0"/>
          </a:p>
        </p:txBody>
      </p:sp>
      <p:sp>
        <p:nvSpPr>
          <p:cNvPr id="9" name="Text 5"/>
          <p:cNvSpPr/>
          <p:nvPr/>
        </p:nvSpPr>
        <p:spPr>
          <a:xfrm>
            <a:off x="821531" y="1405533"/>
            <a:ext cx="157329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42526E"/>
                </a:solidFill>
              </a:rPr>
              <a:t>Search futsal by location/price/slots.</a:t>
            </a:r>
            <a:endParaRPr lang="en-US" sz="674" dirty="0"/>
          </a:p>
        </p:txBody>
      </p:sp>
      <p:sp>
        <p:nvSpPr>
          <p:cNvPr id="10" name="Text 6"/>
          <p:cNvSpPr/>
          <p:nvPr/>
        </p:nvSpPr>
        <p:spPr>
          <a:xfrm>
            <a:off x="714375" y="1571262"/>
            <a:ext cx="3490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0052CC"/>
                </a:solidFill>
              </a:rPr>
              <a:t>•</a:t>
            </a:r>
            <a:endParaRPr lang="en-US" sz="674" dirty="0"/>
          </a:p>
        </p:txBody>
      </p:sp>
      <p:sp>
        <p:nvSpPr>
          <p:cNvPr id="11" name="Text 7"/>
          <p:cNvSpPr/>
          <p:nvPr/>
        </p:nvSpPr>
        <p:spPr>
          <a:xfrm>
            <a:off x="821531" y="1571262"/>
            <a:ext cx="151601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42526E"/>
                </a:solidFill>
              </a:rPr>
              <a:t>Real-time court booking &amp; reviews.</a:t>
            </a:r>
            <a:endParaRPr lang="en-US" sz="674" dirty="0"/>
          </a:p>
        </p:txBody>
      </p:sp>
      <p:sp>
        <p:nvSpPr>
          <p:cNvPr id="12" name="Shape 8"/>
          <p:cNvSpPr/>
          <p:nvPr/>
        </p:nvSpPr>
        <p:spPr>
          <a:xfrm>
            <a:off x="571500" y="2137767"/>
            <a:ext cx="3714750" cy="9644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571500" y="2137767"/>
            <a:ext cx="28575" cy="964406"/>
          </a:xfrm>
          <a:prstGeom prst="rect">
            <a:avLst/>
          </a:prstGeom>
          <a:solidFill>
            <a:srgbClr val="0052C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268141"/>
            <a:ext cx="144661" cy="1285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30473" y="2244923"/>
            <a:ext cx="8564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91E42"/>
                </a:solidFill>
              </a:rPr>
              <a:t>Futsal Owner</a:t>
            </a:r>
            <a:endParaRPr lang="en-US" sz="885" dirty="0"/>
          </a:p>
        </p:txBody>
      </p:sp>
      <p:sp>
        <p:nvSpPr>
          <p:cNvPr id="16" name="Text 11"/>
          <p:cNvSpPr/>
          <p:nvPr/>
        </p:nvSpPr>
        <p:spPr>
          <a:xfrm>
            <a:off x="714375" y="2477095"/>
            <a:ext cx="3490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0052CC"/>
                </a:solidFill>
              </a:rPr>
              <a:t>•</a:t>
            </a:r>
            <a:endParaRPr lang="en-US" sz="674" dirty="0"/>
          </a:p>
        </p:txBody>
      </p:sp>
      <p:sp>
        <p:nvSpPr>
          <p:cNvPr id="17" name="Text 12"/>
          <p:cNvSpPr/>
          <p:nvPr/>
        </p:nvSpPr>
        <p:spPr>
          <a:xfrm>
            <a:off x="821531" y="2477095"/>
            <a:ext cx="153858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42526E"/>
                </a:solidFill>
              </a:rPr>
              <a:t>Manage court availability &amp; pricing.</a:t>
            </a:r>
            <a:endParaRPr lang="en-US" sz="674" dirty="0"/>
          </a:p>
        </p:txBody>
      </p:sp>
      <p:sp>
        <p:nvSpPr>
          <p:cNvPr id="18" name="Text 13"/>
          <p:cNvSpPr/>
          <p:nvPr/>
        </p:nvSpPr>
        <p:spPr>
          <a:xfrm>
            <a:off x="714375" y="2642825"/>
            <a:ext cx="3490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0052CC"/>
                </a:solidFill>
              </a:rPr>
              <a:t>•</a:t>
            </a:r>
            <a:endParaRPr lang="en-US" sz="674" dirty="0"/>
          </a:p>
        </p:txBody>
      </p:sp>
      <p:sp>
        <p:nvSpPr>
          <p:cNvPr id="19" name="Text 14"/>
          <p:cNvSpPr/>
          <p:nvPr/>
        </p:nvSpPr>
        <p:spPr>
          <a:xfrm>
            <a:off x="821531" y="2642825"/>
            <a:ext cx="143438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42526E"/>
                </a:solidFill>
              </a:rPr>
              <a:t>Analytics dashboard for revenue.</a:t>
            </a:r>
            <a:endParaRPr lang="en-US" sz="674" dirty="0"/>
          </a:p>
        </p:txBody>
      </p:sp>
      <p:sp>
        <p:nvSpPr>
          <p:cNvPr id="20" name="Shape 15"/>
          <p:cNvSpPr/>
          <p:nvPr/>
        </p:nvSpPr>
        <p:spPr>
          <a:xfrm>
            <a:off x="571500" y="3209330"/>
            <a:ext cx="3714750" cy="9644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6"/>
          <p:cNvSpPr/>
          <p:nvPr/>
        </p:nvSpPr>
        <p:spPr>
          <a:xfrm>
            <a:off x="571500" y="3209330"/>
            <a:ext cx="28575" cy="964406"/>
          </a:xfrm>
          <a:prstGeom prst="rect">
            <a:avLst/>
          </a:prstGeom>
          <a:solidFill>
            <a:srgbClr val="0052C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339703"/>
            <a:ext cx="160734" cy="1285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6547" y="3316486"/>
            <a:ext cx="91953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91E42"/>
                </a:solidFill>
              </a:rPr>
              <a:t>System Admin</a:t>
            </a:r>
            <a:endParaRPr lang="en-US" sz="885" dirty="0"/>
          </a:p>
        </p:txBody>
      </p:sp>
      <p:sp>
        <p:nvSpPr>
          <p:cNvPr id="24" name="Text 18"/>
          <p:cNvSpPr/>
          <p:nvPr/>
        </p:nvSpPr>
        <p:spPr>
          <a:xfrm>
            <a:off x="714375" y="3548658"/>
            <a:ext cx="3490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0052CC"/>
                </a:solidFill>
              </a:rPr>
              <a:t>•</a:t>
            </a:r>
            <a:endParaRPr lang="en-US" sz="674" dirty="0"/>
          </a:p>
        </p:txBody>
      </p:sp>
      <p:sp>
        <p:nvSpPr>
          <p:cNvPr id="25" name="Text 19"/>
          <p:cNvSpPr/>
          <p:nvPr/>
        </p:nvSpPr>
        <p:spPr>
          <a:xfrm>
            <a:off x="821531" y="3548658"/>
            <a:ext cx="136063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42526E"/>
                </a:solidFill>
              </a:rPr>
              <a:t>Manage multi-tenant accounts.</a:t>
            </a:r>
            <a:endParaRPr lang="en-US" sz="674" dirty="0"/>
          </a:p>
        </p:txBody>
      </p:sp>
      <p:sp>
        <p:nvSpPr>
          <p:cNvPr id="26" name="Text 20"/>
          <p:cNvSpPr/>
          <p:nvPr/>
        </p:nvSpPr>
        <p:spPr>
          <a:xfrm>
            <a:off x="714375" y="3714387"/>
            <a:ext cx="3490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0052CC"/>
                </a:solidFill>
              </a:rPr>
              <a:t>•</a:t>
            </a:r>
            <a:endParaRPr lang="en-US" sz="674" dirty="0"/>
          </a:p>
        </p:txBody>
      </p:sp>
      <p:sp>
        <p:nvSpPr>
          <p:cNvPr id="27" name="Text 21"/>
          <p:cNvSpPr/>
          <p:nvPr/>
        </p:nvSpPr>
        <p:spPr>
          <a:xfrm>
            <a:off x="821531" y="3714387"/>
            <a:ext cx="14839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42526E"/>
                </a:solidFill>
              </a:rPr>
              <a:t>System monitoring &amp; moderation.</a:t>
            </a:r>
            <a:endParaRPr lang="en-US" sz="674" dirty="0"/>
          </a:p>
        </p:txBody>
      </p:sp>
      <p:sp>
        <p:nvSpPr>
          <p:cNvPr id="28" name="Shape 22"/>
          <p:cNvSpPr/>
          <p:nvPr/>
        </p:nvSpPr>
        <p:spPr>
          <a:xfrm>
            <a:off x="4572000" y="1066205"/>
            <a:ext cx="4000500" cy="33593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3"/>
          <p:cNvSpPr/>
          <p:nvPr/>
        </p:nvSpPr>
        <p:spPr>
          <a:xfrm>
            <a:off x="4572000" y="1066205"/>
            <a:ext cx="4000500" cy="28575"/>
          </a:xfrm>
          <a:prstGeom prst="rect">
            <a:avLst/>
          </a:prstGeom>
          <a:solidFill>
            <a:srgbClr val="0052CC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4906" y="1209080"/>
            <a:ext cx="3214688" cy="300037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653832" y="4280892"/>
            <a:ext cx="183683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i="1" dirty="0">
                <a:solidFill>
                  <a:srgbClr val="42526E"/>
                </a:solidFill>
              </a:rPr>
              <a:t>Fig: Use case diagram for Futsal Booking System</a:t>
            </a:r>
            <a:endParaRPr lang="en-US" sz="62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91E42"/>
                </a:solidFill>
              </a:rPr>
              <a:t>Non-Functional Requirements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180505"/>
            <a:ext cx="3893344" cy="18145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80505"/>
            <a:ext cx="3893344" cy="2857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6" name="Shape 3"/>
          <p:cNvSpPr/>
          <p:nvPr/>
        </p:nvSpPr>
        <p:spPr>
          <a:xfrm>
            <a:off x="785813" y="1394817"/>
            <a:ext cx="285750" cy="285750"/>
          </a:xfrm>
          <a:prstGeom prst="rect">
            <a:avLst/>
          </a:prstGeom>
          <a:solidFill>
            <a:srgbClr val="F4F5F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394" y="1451967"/>
            <a:ext cx="128588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8719" y="1430536"/>
            <a:ext cx="101859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91E42"/>
                </a:solidFill>
              </a:rPr>
              <a:t>Performance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785813" y="1787723"/>
            <a:ext cx="3464719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526E"/>
                </a:solidFill>
              </a:rPr>
              <a:t>Ensuring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real-time availability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526E"/>
                </a:solidFill>
              </a:rPr>
              <a:t> checks and high-speed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526E"/>
                </a:solidFill>
              </a:rPr>
              <a:t>response times for booking confirmations and slot validations.</a:t>
            </a:r>
            <a:endParaRPr lang="en-US" sz="834" dirty="0"/>
          </a:p>
        </p:txBody>
      </p:sp>
      <p:sp>
        <p:nvSpPr>
          <p:cNvPr id="10" name="Shape 6"/>
          <p:cNvSpPr/>
          <p:nvPr/>
        </p:nvSpPr>
        <p:spPr>
          <a:xfrm>
            <a:off x="4679156" y="1180505"/>
            <a:ext cx="3893344" cy="18145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4679156" y="1180505"/>
            <a:ext cx="3893344" cy="2857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2" name="Shape 8"/>
          <p:cNvSpPr/>
          <p:nvPr/>
        </p:nvSpPr>
        <p:spPr>
          <a:xfrm>
            <a:off x="4893469" y="1394817"/>
            <a:ext cx="285750" cy="285750"/>
          </a:xfrm>
          <a:prstGeom prst="rect">
            <a:avLst/>
          </a:prstGeom>
          <a:solidFill>
            <a:srgbClr val="F4F5F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334" y="1451967"/>
            <a:ext cx="150019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86375" y="1430536"/>
            <a:ext cx="8061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91E42"/>
                </a:solidFill>
              </a:rPr>
              <a:t>Scalability</a:t>
            </a:r>
            <a:endParaRPr lang="en-US" sz="1090" dirty="0"/>
          </a:p>
        </p:txBody>
      </p:sp>
      <p:sp>
        <p:nvSpPr>
          <p:cNvPr id="15" name="Text 10"/>
          <p:cNvSpPr/>
          <p:nvPr/>
        </p:nvSpPr>
        <p:spPr>
          <a:xfrm>
            <a:off x="4893469" y="1787723"/>
            <a:ext cx="3464719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526E"/>
                </a:solidFill>
              </a:rPr>
              <a:t>A robust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multi-tenant architecture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526E"/>
                </a:solidFill>
              </a:rPr>
              <a:t> designed to handle a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526E"/>
                </a:solidFill>
              </a:rPr>
              <a:t>growing number of futsal centers and concurrent users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526E"/>
                </a:solidFill>
              </a:rPr>
              <a:t>seamlessly.</a:t>
            </a:r>
            <a:endParaRPr lang="en-US" sz="834" dirty="0"/>
          </a:p>
        </p:txBody>
      </p:sp>
      <p:sp>
        <p:nvSpPr>
          <p:cNvPr id="16" name="Shape 11"/>
          <p:cNvSpPr/>
          <p:nvPr/>
        </p:nvSpPr>
        <p:spPr>
          <a:xfrm>
            <a:off x="571500" y="3180755"/>
            <a:ext cx="3893344" cy="18145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571500" y="3180755"/>
            <a:ext cx="3893344" cy="2857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8" name="Shape 13"/>
          <p:cNvSpPr/>
          <p:nvPr/>
        </p:nvSpPr>
        <p:spPr>
          <a:xfrm>
            <a:off x="785813" y="3395067"/>
            <a:ext cx="285750" cy="285750"/>
          </a:xfrm>
          <a:prstGeom prst="rect">
            <a:avLst/>
          </a:prstGeom>
          <a:solidFill>
            <a:srgbClr val="F4F5F7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963" y="3452217"/>
            <a:ext cx="171450" cy="1714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78719" y="3430786"/>
            <a:ext cx="6404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91E42"/>
                </a:solidFill>
              </a:rPr>
              <a:t>Security</a:t>
            </a:r>
            <a:endParaRPr lang="en-US" sz="1090" dirty="0"/>
          </a:p>
        </p:txBody>
      </p:sp>
      <p:sp>
        <p:nvSpPr>
          <p:cNvPr id="21" name="Text 15"/>
          <p:cNvSpPr/>
          <p:nvPr/>
        </p:nvSpPr>
        <p:spPr>
          <a:xfrm>
            <a:off x="785813" y="3787973"/>
            <a:ext cx="3464719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526E"/>
                </a:solidFill>
              </a:rPr>
              <a:t>Implementation of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JWT authentication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526E"/>
                </a:solidFill>
              </a:rPr>
              <a:t> and strict data isolation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526E"/>
                </a:solidFill>
              </a:rPr>
              <a:t>between tenants to ensure privacy and data integrity.</a:t>
            </a:r>
            <a:endParaRPr lang="en-US" sz="834" dirty="0"/>
          </a:p>
        </p:txBody>
      </p:sp>
      <p:sp>
        <p:nvSpPr>
          <p:cNvPr id="22" name="Shape 16"/>
          <p:cNvSpPr/>
          <p:nvPr/>
        </p:nvSpPr>
        <p:spPr>
          <a:xfrm>
            <a:off x="4679156" y="3180755"/>
            <a:ext cx="3893344" cy="18145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4679156" y="3180755"/>
            <a:ext cx="3893344" cy="2857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4" name="Shape 18"/>
          <p:cNvSpPr/>
          <p:nvPr/>
        </p:nvSpPr>
        <p:spPr>
          <a:xfrm>
            <a:off x="4893469" y="3395067"/>
            <a:ext cx="285750" cy="285750"/>
          </a:xfrm>
          <a:prstGeom prst="rect">
            <a:avLst/>
          </a:prstGeom>
          <a:solidFill>
            <a:srgbClr val="F4F5F7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050" y="3452217"/>
            <a:ext cx="128588" cy="17145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86375" y="3430786"/>
            <a:ext cx="69277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91E42"/>
                </a:solidFill>
              </a:rPr>
              <a:t>Usability</a:t>
            </a:r>
            <a:endParaRPr lang="en-US" sz="1090" dirty="0"/>
          </a:p>
        </p:txBody>
      </p:sp>
      <p:sp>
        <p:nvSpPr>
          <p:cNvPr id="27" name="Text 20"/>
          <p:cNvSpPr/>
          <p:nvPr/>
        </p:nvSpPr>
        <p:spPr>
          <a:xfrm>
            <a:off x="4893469" y="3787973"/>
            <a:ext cx="3464719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526E"/>
                </a:solidFill>
              </a:rPr>
              <a:t>A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mobile-responsive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526E"/>
                </a:solidFill>
              </a:rPr>
              <a:t> design ensuring a consistent and intuitive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526E"/>
                </a:solidFill>
              </a:rPr>
              <a:t>user experience across all devices and screen sizes.</a:t>
            </a:r>
            <a:endParaRPr lang="en-US" sz="8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91E42"/>
                </a:solidFill>
              </a:rPr>
              <a:t>Technical Feasibility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180505"/>
            <a:ext cx="1893094" cy="32504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80505"/>
            <a:ext cx="1893094" cy="35719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6" name="Shape 3"/>
          <p:cNvSpPr/>
          <p:nvPr/>
        </p:nvSpPr>
        <p:spPr>
          <a:xfrm>
            <a:off x="1303734" y="1394817"/>
            <a:ext cx="428625" cy="428625"/>
          </a:xfrm>
          <a:prstGeom prst="rect">
            <a:avLst/>
          </a:prstGeom>
          <a:solidFill>
            <a:srgbClr val="091E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031" y="1509117"/>
            <a:ext cx="250031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4375" y="2002036"/>
            <a:ext cx="1607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91E42"/>
                </a:solidFill>
              </a:rPr>
              <a:t>Frontend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714375" y="2359223"/>
            <a:ext cx="10715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52CC"/>
                </a:solidFill>
              </a:rPr>
              <a:t></a:t>
            </a:r>
            <a:endParaRPr lang="en-US" sz="584" dirty="0"/>
          </a:p>
        </p:txBody>
      </p:sp>
      <p:sp>
        <p:nvSpPr>
          <p:cNvPr id="10" name="Text 6"/>
          <p:cNvSpPr/>
          <p:nvPr/>
        </p:nvSpPr>
        <p:spPr>
          <a:xfrm>
            <a:off x="892969" y="2361009"/>
            <a:ext cx="41684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React.js</a:t>
            </a:r>
            <a:endParaRPr lang="en-US" sz="734" dirty="0"/>
          </a:p>
        </p:txBody>
      </p:sp>
      <p:sp>
        <p:nvSpPr>
          <p:cNvPr id="11" name="Text 7"/>
          <p:cNvSpPr/>
          <p:nvPr/>
        </p:nvSpPr>
        <p:spPr>
          <a:xfrm>
            <a:off x="1309818" y="2361009"/>
            <a:ext cx="77035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2526E"/>
                </a:solidFill>
              </a:rPr>
              <a:t>for dynamic UI</a:t>
            </a:r>
            <a:endParaRPr lang="en-US" sz="780" dirty="0"/>
          </a:p>
        </p:txBody>
      </p:sp>
      <p:sp>
        <p:nvSpPr>
          <p:cNvPr id="12" name="Text 8"/>
          <p:cNvSpPr/>
          <p:nvPr/>
        </p:nvSpPr>
        <p:spPr>
          <a:xfrm>
            <a:off x="714375" y="2594967"/>
            <a:ext cx="10715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52CC"/>
                </a:solidFill>
              </a:rPr>
              <a:t></a:t>
            </a:r>
            <a:endParaRPr lang="en-US" sz="584" dirty="0"/>
          </a:p>
        </p:txBody>
      </p:sp>
      <p:sp>
        <p:nvSpPr>
          <p:cNvPr id="13" name="Text 9"/>
          <p:cNvSpPr/>
          <p:nvPr/>
        </p:nvSpPr>
        <p:spPr>
          <a:xfrm>
            <a:off x="892969" y="2596753"/>
            <a:ext cx="1108342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2526E"/>
                </a:solidFill>
              </a:rPr>
              <a:t>Responsive design for mobile</a:t>
            </a:r>
            <a:endParaRPr lang="en-US" sz="780" dirty="0"/>
          </a:p>
        </p:txBody>
      </p:sp>
      <p:sp>
        <p:nvSpPr>
          <p:cNvPr id="14" name="Text 10"/>
          <p:cNvSpPr/>
          <p:nvPr/>
        </p:nvSpPr>
        <p:spPr>
          <a:xfrm>
            <a:off x="714375" y="2980730"/>
            <a:ext cx="10715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52CC"/>
                </a:solidFill>
              </a:rPr>
              <a:t></a:t>
            </a:r>
            <a:endParaRPr lang="en-US" sz="584" dirty="0"/>
          </a:p>
        </p:txBody>
      </p:sp>
      <p:sp>
        <p:nvSpPr>
          <p:cNvPr id="15" name="Text 11"/>
          <p:cNvSpPr/>
          <p:nvPr/>
        </p:nvSpPr>
        <p:spPr>
          <a:xfrm>
            <a:off x="892969" y="2982516"/>
            <a:ext cx="139710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2526E"/>
                </a:solidFill>
              </a:rPr>
              <a:t>JWT-based session handling</a:t>
            </a:r>
            <a:endParaRPr lang="en-US" sz="780" dirty="0"/>
          </a:p>
        </p:txBody>
      </p:sp>
      <p:sp>
        <p:nvSpPr>
          <p:cNvPr id="16" name="Shape 12"/>
          <p:cNvSpPr/>
          <p:nvPr/>
        </p:nvSpPr>
        <p:spPr>
          <a:xfrm>
            <a:off x="2607469" y="1180505"/>
            <a:ext cx="1893094" cy="32504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2607469" y="1180505"/>
            <a:ext cx="1893094" cy="35719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8" name="Shape 14"/>
          <p:cNvSpPr/>
          <p:nvPr/>
        </p:nvSpPr>
        <p:spPr>
          <a:xfrm>
            <a:off x="3339703" y="1394817"/>
            <a:ext cx="428625" cy="428625"/>
          </a:xfrm>
          <a:prstGeom prst="rect">
            <a:avLst/>
          </a:prstGeom>
          <a:solidFill>
            <a:srgbClr val="091E4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003" y="1509117"/>
            <a:ext cx="200025" cy="2000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750344" y="2002036"/>
            <a:ext cx="1607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91E42"/>
                </a:solidFill>
              </a:rPr>
              <a:t>Backend</a:t>
            </a:r>
            <a:endParaRPr lang="en-US" sz="1090" dirty="0"/>
          </a:p>
        </p:txBody>
      </p:sp>
      <p:sp>
        <p:nvSpPr>
          <p:cNvPr id="21" name="Text 16"/>
          <p:cNvSpPr/>
          <p:nvPr/>
        </p:nvSpPr>
        <p:spPr>
          <a:xfrm>
            <a:off x="2750344" y="2359223"/>
            <a:ext cx="10715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52CC"/>
                </a:solidFill>
              </a:rPr>
              <a:t></a:t>
            </a:r>
            <a:endParaRPr lang="en-US" sz="584" dirty="0"/>
          </a:p>
        </p:txBody>
      </p:sp>
      <p:sp>
        <p:nvSpPr>
          <p:cNvPr id="22" name="Text 17"/>
          <p:cNvSpPr/>
          <p:nvPr/>
        </p:nvSpPr>
        <p:spPr>
          <a:xfrm>
            <a:off x="2928938" y="2361009"/>
            <a:ext cx="94331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Node.js &amp; Express</a:t>
            </a:r>
            <a:endParaRPr lang="en-US" sz="734" dirty="0"/>
          </a:p>
        </p:txBody>
      </p:sp>
      <p:sp>
        <p:nvSpPr>
          <p:cNvPr id="23" name="Text 18"/>
          <p:cNvSpPr/>
          <p:nvPr/>
        </p:nvSpPr>
        <p:spPr>
          <a:xfrm>
            <a:off x="2750344" y="2594967"/>
            <a:ext cx="10715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52CC"/>
                </a:solidFill>
              </a:rPr>
              <a:t></a:t>
            </a:r>
            <a:endParaRPr lang="en-US" sz="584" dirty="0"/>
          </a:p>
        </p:txBody>
      </p:sp>
      <p:sp>
        <p:nvSpPr>
          <p:cNvPr id="24" name="Text 19"/>
          <p:cNvSpPr/>
          <p:nvPr/>
        </p:nvSpPr>
        <p:spPr>
          <a:xfrm>
            <a:off x="2928938" y="2596753"/>
            <a:ext cx="137815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2526E"/>
                </a:solidFill>
              </a:rPr>
              <a:t>Scalable RESTful API design</a:t>
            </a:r>
            <a:endParaRPr lang="en-US" sz="780" dirty="0"/>
          </a:p>
        </p:txBody>
      </p:sp>
      <p:sp>
        <p:nvSpPr>
          <p:cNvPr id="25" name="Text 20"/>
          <p:cNvSpPr/>
          <p:nvPr/>
        </p:nvSpPr>
        <p:spPr>
          <a:xfrm>
            <a:off x="2750344" y="2830711"/>
            <a:ext cx="10715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52CC"/>
                </a:solidFill>
              </a:rPr>
              <a:t></a:t>
            </a:r>
            <a:endParaRPr lang="en-US" sz="584" dirty="0"/>
          </a:p>
        </p:txBody>
      </p:sp>
      <p:sp>
        <p:nvSpPr>
          <p:cNvPr id="26" name="Text 21"/>
          <p:cNvSpPr/>
          <p:nvPr/>
        </p:nvSpPr>
        <p:spPr>
          <a:xfrm>
            <a:off x="2928938" y="2832497"/>
            <a:ext cx="133175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2526E"/>
                </a:solidFill>
              </a:rPr>
              <a:t>Multi-tenant data isolation</a:t>
            </a:r>
            <a:endParaRPr lang="en-US" sz="780" dirty="0"/>
          </a:p>
        </p:txBody>
      </p:sp>
      <p:sp>
        <p:nvSpPr>
          <p:cNvPr id="27" name="Shape 22"/>
          <p:cNvSpPr/>
          <p:nvPr/>
        </p:nvSpPr>
        <p:spPr>
          <a:xfrm>
            <a:off x="4643438" y="1180505"/>
            <a:ext cx="1893094" cy="32504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3"/>
          <p:cNvSpPr/>
          <p:nvPr/>
        </p:nvSpPr>
        <p:spPr>
          <a:xfrm>
            <a:off x="4643438" y="1180505"/>
            <a:ext cx="1893094" cy="35719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9" name="Shape 24"/>
          <p:cNvSpPr/>
          <p:nvPr/>
        </p:nvSpPr>
        <p:spPr>
          <a:xfrm>
            <a:off x="5375672" y="1394817"/>
            <a:ext cx="428625" cy="428625"/>
          </a:xfrm>
          <a:prstGeom prst="rect">
            <a:avLst/>
          </a:prstGeom>
          <a:solidFill>
            <a:srgbClr val="091E42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2473" y="1509117"/>
            <a:ext cx="175022" cy="20002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786313" y="2002036"/>
            <a:ext cx="1607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91E42"/>
                </a:solidFill>
              </a:rPr>
              <a:t>Data Layer</a:t>
            </a:r>
            <a:endParaRPr lang="en-US" sz="1090" dirty="0"/>
          </a:p>
        </p:txBody>
      </p:sp>
      <p:sp>
        <p:nvSpPr>
          <p:cNvPr id="32" name="Text 26"/>
          <p:cNvSpPr/>
          <p:nvPr/>
        </p:nvSpPr>
        <p:spPr>
          <a:xfrm>
            <a:off x="4786313" y="2359223"/>
            <a:ext cx="10715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52CC"/>
                </a:solidFill>
              </a:rPr>
              <a:t></a:t>
            </a:r>
            <a:endParaRPr lang="en-US" sz="584" dirty="0"/>
          </a:p>
        </p:txBody>
      </p:sp>
      <p:sp>
        <p:nvSpPr>
          <p:cNvPr id="33" name="Text 27"/>
          <p:cNvSpPr/>
          <p:nvPr/>
        </p:nvSpPr>
        <p:spPr>
          <a:xfrm>
            <a:off x="4964906" y="2361009"/>
            <a:ext cx="36692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MySQL</a:t>
            </a:r>
            <a:endParaRPr lang="en-US" sz="734" dirty="0"/>
          </a:p>
        </p:txBody>
      </p:sp>
      <p:sp>
        <p:nvSpPr>
          <p:cNvPr id="34" name="Text 28"/>
          <p:cNvSpPr/>
          <p:nvPr/>
        </p:nvSpPr>
        <p:spPr>
          <a:xfrm>
            <a:off x="5331833" y="2361009"/>
            <a:ext cx="77978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2526E"/>
                </a:solidFill>
              </a:rPr>
              <a:t>for persistence</a:t>
            </a:r>
            <a:endParaRPr lang="en-US" sz="780" dirty="0"/>
          </a:p>
        </p:txBody>
      </p:sp>
      <p:sp>
        <p:nvSpPr>
          <p:cNvPr id="35" name="Text 29"/>
          <p:cNvSpPr/>
          <p:nvPr/>
        </p:nvSpPr>
        <p:spPr>
          <a:xfrm>
            <a:off x="4786313" y="2594967"/>
            <a:ext cx="10715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52CC"/>
                </a:solidFill>
              </a:rPr>
              <a:t></a:t>
            </a:r>
            <a:endParaRPr lang="en-US" sz="584" dirty="0"/>
          </a:p>
        </p:txBody>
      </p:sp>
      <p:sp>
        <p:nvSpPr>
          <p:cNvPr id="36" name="Text 30"/>
          <p:cNvSpPr/>
          <p:nvPr/>
        </p:nvSpPr>
        <p:spPr>
          <a:xfrm>
            <a:off x="4964906" y="2596753"/>
            <a:ext cx="28784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Redis</a:t>
            </a:r>
            <a:endParaRPr lang="en-US" sz="734" dirty="0"/>
          </a:p>
        </p:txBody>
      </p:sp>
      <p:sp>
        <p:nvSpPr>
          <p:cNvPr id="37" name="Text 31"/>
          <p:cNvSpPr/>
          <p:nvPr/>
        </p:nvSpPr>
        <p:spPr>
          <a:xfrm>
            <a:off x="5252749" y="2596753"/>
            <a:ext cx="80099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2526E"/>
                </a:solidFill>
              </a:rPr>
              <a:t>for slot caching</a:t>
            </a:r>
            <a:endParaRPr lang="en-US" sz="780" dirty="0"/>
          </a:p>
        </p:txBody>
      </p:sp>
      <p:sp>
        <p:nvSpPr>
          <p:cNvPr id="38" name="Text 32"/>
          <p:cNvSpPr/>
          <p:nvPr/>
        </p:nvSpPr>
        <p:spPr>
          <a:xfrm>
            <a:off x="4786313" y="2830711"/>
            <a:ext cx="10715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52CC"/>
                </a:solidFill>
              </a:rPr>
              <a:t></a:t>
            </a:r>
            <a:endParaRPr lang="en-US" sz="584" dirty="0"/>
          </a:p>
        </p:txBody>
      </p:sp>
      <p:sp>
        <p:nvSpPr>
          <p:cNvPr id="39" name="Text 33"/>
          <p:cNvSpPr/>
          <p:nvPr/>
        </p:nvSpPr>
        <p:spPr>
          <a:xfrm>
            <a:off x="4964906" y="2832497"/>
            <a:ext cx="122222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2526E"/>
                </a:solidFill>
              </a:rPr>
              <a:t>Cloud-based file storage</a:t>
            </a:r>
            <a:endParaRPr lang="en-US" sz="780" dirty="0"/>
          </a:p>
        </p:txBody>
      </p:sp>
      <p:sp>
        <p:nvSpPr>
          <p:cNvPr id="40" name="Shape 34"/>
          <p:cNvSpPr/>
          <p:nvPr/>
        </p:nvSpPr>
        <p:spPr>
          <a:xfrm>
            <a:off x="6679406" y="1180505"/>
            <a:ext cx="1893094" cy="32504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5"/>
          <p:cNvSpPr/>
          <p:nvPr/>
        </p:nvSpPr>
        <p:spPr>
          <a:xfrm>
            <a:off x="6679406" y="1180505"/>
            <a:ext cx="1893094" cy="35719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42" name="Shape 36"/>
          <p:cNvSpPr/>
          <p:nvPr/>
        </p:nvSpPr>
        <p:spPr>
          <a:xfrm>
            <a:off x="7411641" y="1394817"/>
            <a:ext cx="428625" cy="428625"/>
          </a:xfrm>
          <a:prstGeom prst="rect">
            <a:avLst/>
          </a:prstGeom>
          <a:solidFill>
            <a:srgbClr val="091E42"/>
          </a:solidFill>
          <a:ln/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5941" y="1509117"/>
            <a:ext cx="200025" cy="200025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6822281" y="2002036"/>
            <a:ext cx="1607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91E42"/>
                </a:solidFill>
              </a:rPr>
              <a:t>AI &amp; ML</a:t>
            </a:r>
            <a:endParaRPr lang="en-US" sz="1090" dirty="0"/>
          </a:p>
        </p:txBody>
      </p:sp>
      <p:sp>
        <p:nvSpPr>
          <p:cNvPr id="45" name="Text 38"/>
          <p:cNvSpPr/>
          <p:nvPr/>
        </p:nvSpPr>
        <p:spPr>
          <a:xfrm>
            <a:off x="6822281" y="2359223"/>
            <a:ext cx="10715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52CC"/>
                </a:solidFill>
              </a:rPr>
              <a:t></a:t>
            </a:r>
            <a:endParaRPr lang="en-US" sz="584" dirty="0"/>
          </a:p>
        </p:txBody>
      </p:sp>
      <p:sp>
        <p:nvSpPr>
          <p:cNvPr id="46" name="Text 39"/>
          <p:cNvSpPr/>
          <p:nvPr/>
        </p:nvSpPr>
        <p:spPr>
          <a:xfrm>
            <a:off x="7000875" y="2361009"/>
            <a:ext cx="38191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Python</a:t>
            </a:r>
            <a:endParaRPr lang="en-US" sz="734" dirty="0"/>
          </a:p>
        </p:txBody>
      </p:sp>
      <p:sp>
        <p:nvSpPr>
          <p:cNvPr id="47" name="Text 40"/>
          <p:cNvSpPr/>
          <p:nvPr/>
        </p:nvSpPr>
        <p:spPr>
          <a:xfrm>
            <a:off x="7382787" y="2361009"/>
            <a:ext cx="66523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2526E"/>
                </a:solidFill>
              </a:rPr>
              <a:t>NLP libraries</a:t>
            </a:r>
            <a:endParaRPr lang="en-US" sz="780" dirty="0"/>
          </a:p>
        </p:txBody>
      </p:sp>
      <p:sp>
        <p:nvSpPr>
          <p:cNvPr id="48" name="Text 41"/>
          <p:cNvSpPr/>
          <p:nvPr/>
        </p:nvSpPr>
        <p:spPr>
          <a:xfrm>
            <a:off x="6822281" y="2594967"/>
            <a:ext cx="10715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52CC"/>
                </a:solidFill>
              </a:rPr>
              <a:t></a:t>
            </a:r>
            <a:endParaRPr lang="en-US" sz="584" dirty="0"/>
          </a:p>
        </p:txBody>
      </p:sp>
      <p:sp>
        <p:nvSpPr>
          <p:cNvPr id="49" name="Text 42"/>
          <p:cNvSpPr/>
          <p:nvPr/>
        </p:nvSpPr>
        <p:spPr>
          <a:xfrm>
            <a:off x="7000875" y="2596753"/>
            <a:ext cx="131525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2526E"/>
                </a:solidFill>
              </a:rPr>
              <a:t>Logistic Regression model</a:t>
            </a:r>
            <a:endParaRPr lang="en-US" sz="780" dirty="0"/>
          </a:p>
        </p:txBody>
      </p:sp>
      <p:sp>
        <p:nvSpPr>
          <p:cNvPr id="50" name="Text 43"/>
          <p:cNvSpPr/>
          <p:nvPr/>
        </p:nvSpPr>
        <p:spPr>
          <a:xfrm>
            <a:off x="6822281" y="2830711"/>
            <a:ext cx="10715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52CC"/>
                </a:solidFill>
              </a:rPr>
              <a:t></a:t>
            </a:r>
            <a:endParaRPr lang="en-US" sz="584" dirty="0"/>
          </a:p>
        </p:txBody>
      </p:sp>
      <p:sp>
        <p:nvSpPr>
          <p:cNvPr id="51" name="Text 44"/>
          <p:cNvSpPr/>
          <p:nvPr/>
        </p:nvSpPr>
        <p:spPr>
          <a:xfrm>
            <a:off x="7000875" y="2832497"/>
            <a:ext cx="111509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2526E"/>
                </a:solidFill>
              </a:rPr>
              <a:t>TF-IDF text processing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91E42"/>
                </a:solidFill>
              </a:rPr>
              <a:t>High-Level System Design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066205"/>
            <a:ext cx="3714750" cy="12144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66205"/>
            <a:ext cx="28575" cy="1214438"/>
          </a:xfrm>
          <a:prstGeom prst="rect">
            <a:avLst/>
          </a:prstGeom>
          <a:solidFill>
            <a:srgbClr val="0052C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232297"/>
            <a:ext cx="144661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30473" y="1209080"/>
            <a:ext cx="80434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91E42"/>
                </a:solidFill>
              </a:rPr>
              <a:t>Architecture</a:t>
            </a:r>
            <a:endParaRPr lang="en-US" sz="885" dirty="0"/>
          </a:p>
        </p:txBody>
      </p:sp>
      <p:sp>
        <p:nvSpPr>
          <p:cNvPr id="8" name="Text 4"/>
          <p:cNvSpPr/>
          <p:nvPr/>
        </p:nvSpPr>
        <p:spPr>
          <a:xfrm>
            <a:off x="714375" y="1455539"/>
            <a:ext cx="34290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2526E"/>
                </a:solidFill>
              </a:rPr>
              <a:t>Multi-tenant SaaS structure with React Frontend and Node.js Backend. API-driven communication.</a:t>
            </a:r>
            <a:endParaRPr lang="en-US" sz="674" dirty="0"/>
          </a:p>
        </p:txBody>
      </p:sp>
      <p:sp>
        <p:nvSpPr>
          <p:cNvPr id="9" name="Shape 5"/>
          <p:cNvSpPr/>
          <p:nvPr/>
        </p:nvSpPr>
        <p:spPr>
          <a:xfrm>
            <a:off x="571500" y="2423517"/>
            <a:ext cx="3714750" cy="12144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571500" y="2423517"/>
            <a:ext cx="28575" cy="1214438"/>
          </a:xfrm>
          <a:prstGeom prst="rect">
            <a:avLst/>
          </a:prstGeom>
          <a:solidFill>
            <a:srgbClr val="0052CC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589609"/>
            <a:ext cx="128588" cy="1285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2566392"/>
            <a:ext cx="104376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91E42"/>
                </a:solidFill>
              </a:rPr>
              <a:t>Core Algorithms</a:t>
            </a:r>
            <a:endParaRPr lang="en-US" sz="885" dirty="0"/>
          </a:p>
        </p:txBody>
      </p:sp>
      <p:sp>
        <p:nvSpPr>
          <p:cNvPr id="13" name="Shape 8"/>
          <p:cNvSpPr/>
          <p:nvPr/>
        </p:nvSpPr>
        <p:spPr>
          <a:xfrm>
            <a:off x="714375" y="2812852"/>
            <a:ext cx="3429000" cy="200025"/>
          </a:xfrm>
          <a:prstGeom prst="rect">
            <a:avLst/>
          </a:prstGeom>
          <a:solidFill>
            <a:srgbClr val="091E42"/>
          </a:solidFill>
          <a:ln/>
        </p:spPr>
      </p:sp>
      <p:sp>
        <p:nvSpPr>
          <p:cNvPr id="14" name="Shape 9"/>
          <p:cNvSpPr/>
          <p:nvPr/>
        </p:nvSpPr>
        <p:spPr>
          <a:xfrm>
            <a:off x="714375" y="2812852"/>
            <a:ext cx="21431" cy="20002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5" name="Text 10"/>
          <p:cNvSpPr/>
          <p:nvPr/>
        </p:nvSpPr>
        <p:spPr>
          <a:xfrm>
            <a:off x="714375" y="2812852"/>
            <a:ext cx="3429000" cy="200025"/>
          </a:xfrm>
          <a:prstGeom prst="rect">
            <a:avLst/>
          </a:prstGeom>
          <a:noFill/>
          <a:ln/>
        </p:spPr>
        <p:txBody>
          <a:bodyPr wrap="square" lIns="127508" tIns="85090" rIns="127508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052CC"/>
                </a:solidFill>
              </a:rPr>
              <a:t>Slot Conflict Prevention: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4F5F7"/>
                </a:solidFill>
              </a:rPr>
              <a:t> Ensures no overlapping bookings.</a:t>
            </a:r>
            <a:endParaRPr lang="en-US" sz="621" dirty="0"/>
          </a:p>
        </p:txBody>
      </p:sp>
      <p:sp>
        <p:nvSpPr>
          <p:cNvPr id="16" name="Shape 11"/>
          <p:cNvSpPr/>
          <p:nvPr/>
        </p:nvSpPr>
        <p:spPr>
          <a:xfrm>
            <a:off x="714375" y="3084314"/>
            <a:ext cx="3429000" cy="200025"/>
          </a:xfrm>
          <a:prstGeom prst="rect">
            <a:avLst/>
          </a:prstGeom>
          <a:solidFill>
            <a:srgbClr val="091E42"/>
          </a:solidFill>
          <a:ln/>
        </p:spPr>
      </p:sp>
      <p:sp>
        <p:nvSpPr>
          <p:cNvPr id="17" name="Shape 12"/>
          <p:cNvSpPr/>
          <p:nvPr/>
        </p:nvSpPr>
        <p:spPr>
          <a:xfrm>
            <a:off x="714375" y="3084314"/>
            <a:ext cx="21431" cy="20002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8" name="Text 13"/>
          <p:cNvSpPr/>
          <p:nvPr/>
        </p:nvSpPr>
        <p:spPr>
          <a:xfrm>
            <a:off x="714375" y="3084314"/>
            <a:ext cx="3429000" cy="200025"/>
          </a:xfrm>
          <a:prstGeom prst="rect">
            <a:avLst/>
          </a:prstGeom>
          <a:noFill/>
          <a:ln/>
        </p:spPr>
        <p:txBody>
          <a:bodyPr wrap="square" lIns="127508" tIns="85090" rIns="127508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052CC"/>
                </a:solidFill>
              </a:rPr>
              <a:t>Sentiment Analysis: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4F5F7"/>
                </a:solidFill>
              </a:rPr>
              <a:t> Logistic Regression for reviews.</a:t>
            </a:r>
            <a:endParaRPr lang="en-US" sz="621" dirty="0"/>
          </a:p>
        </p:txBody>
      </p:sp>
      <p:sp>
        <p:nvSpPr>
          <p:cNvPr id="19" name="Shape 14"/>
          <p:cNvSpPr/>
          <p:nvPr/>
        </p:nvSpPr>
        <p:spPr>
          <a:xfrm>
            <a:off x="4572000" y="1066205"/>
            <a:ext cx="4000500" cy="357366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4572000" y="1066205"/>
            <a:ext cx="4000500" cy="28575"/>
          </a:xfrm>
          <a:prstGeom prst="rect">
            <a:avLst/>
          </a:prstGeom>
          <a:solidFill>
            <a:srgbClr val="0052C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4906" y="1209080"/>
            <a:ext cx="3214688" cy="32146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097916" y="4495205"/>
            <a:ext cx="94864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i="1" dirty="0">
                <a:solidFill>
                  <a:srgbClr val="42526E"/>
                </a:solidFill>
              </a:rPr>
              <a:t>Fig: Flow Chart of System</a:t>
            </a:r>
            <a:endParaRPr lang="en-US" sz="62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91E42"/>
                </a:solidFill>
              </a:rPr>
              <a:t>Expected Outcomes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180505"/>
            <a:ext cx="2524116" cy="34647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80505"/>
            <a:ext cx="2524116" cy="35719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6" name="Shape 3"/>
          <p:cNvSpPr/>
          <p:nvPr/>
        </p:nvSpPr>
        <p:spPr>
          <a:xfrm>
            <a:off x="1619231" y="1394817"/>
            <a:ext cx="428625" cy="428625"/>
          </a:xfrm>
          <a:prstGeom prst="rect">
            <a:avLst/>
          </a:prstGeom>
          <a:solidFill>
            <a:srgbClr val="F4F5F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030" y="1509117"/>
            <a:ext cx="225028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6722" y="1930598"/>
            <a:ext cx="173367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91E42"/>
                </a:solidFill>
              </a:rPr>
              <a:t>Operational Efficiency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750094" y="2323505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</a:t>
            </a:r>
            <a:endParaRPr lang="en-US" sz="683" dirty="0"/>
          </a:p>
        </p:txBody>
      </p:sp>
      <p:sp>
        <p:nvSpPr>
          <p:cNvPr id="10" name="Text 6"/>
          <p:cNvSpPr/>
          <p:nvPr/>
        </p:nvSpPr>
        <p:spPr>
          <a:xfrm>
            <a:off x="928688" y="2330648"/>
            <a:ext cx="67558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Elimination of</a:t>
            </a:r>
            <a:endParaRPr lang="en-US" sz="727" dirty="0"/>
          </a:p>
        </p:txBody>
      </p:sp>
      <p:sp>
        <p:nvSpPr>
          <p:cNvPr id="11" name="Text 7"/>
          <p:cNvSpPr/>
          <p:nvPr/>
        </p:nvSpPr>
        <p:spPr>
          <a:xfrm>
            <a:off x="1604274" y="2330648"/>
            <a:ext cx="82822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double bookings</a:t>
            </a:r>
            <a:endParaRPr lang="en-US" sz="683" dirty="0"/>
          </a:p>
        </p:txBody>
      </p:sp>
      <p:sp>
        <p:nvSpPr>
          <p:cNvPr id="12" name="Text 8"/>
          <p:cNvSpPr/>
          <p:nvPr/>
        </p:nvSpPr>
        <p:spPr>
          <a:xfrm>
            <a:off x="928688" y="2330648"/>
            <a:ext cx="17092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and manual scheduling errors.</a:t>
            </a:r>
            <a:endParaRPr lang="en-US" sz="727" dirty="0"/>
          </a:p>
        </p:txBody>
      </p:sp>
      <p:sp>
        <p:nvSpPr>
          <p:cNvPr id="13" name="Text 9"/>
          <p:cNvSpPr/>
          <p:nvPr/>
        </p:nvSpPr>
        <p:spPr>
          <a:xfrm>
            <a:off x="750094" y="2752130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</a:t>
            </a:r>
            <a:endParaRPr lang="en-US" sz="683" dirty="0"/>
          </a:p>
        </p:txBody>
      </p:sp>
      <p:sp>
        <p:nvSpPr>
          <p:cNvPr id="14" name="Text 10"/>
          <p:cNvSpPr/>
          <p:nvPr/>
        </p:nvSpPr>
        <p:spPr>
          <a:xfrm>
            <a:off x="928688" y="2759273"/>
            <a:ext cx="15463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Automated revenue tracking and</a:t>
            </a:r>
            <a:endParaRPr lang="en-US" sz="727" dirty="0"/>
          </a:p>
        </p:txBody>
      </p:sp>
      <p:sp>
        <p:nvSpPr>
          <p:cNvPr id="15" name="Text 11"/>
          <p:cNvSpPr/>
          <p:nvPr/>
        </p:nvSpPr>
        <p:spPr>
          <a:xfrm>
            <a:off x="928688" y="2909292"/>
            <a:ext cx="104834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business intelligence</a:t>
            </a:r>
            <a:endParaRPr lang="en-US" sz="683" dirty="0"/>
          </a:p>
        </p:txBody>
      </p:sp>
      <p:sp>
        <p:nvSpPr>
          <p:cNvPr id="16" name="Text 12"/>
          <p:cNvSpPr/>
          <p:nvPr/>
        </p:nvSpPr>
        <p:spPr>
          <a:xfrm>
            <a:off x="1977033" y="2909292"/>
            <a:ext cx="3958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reports.</a:t>
            </a:r>
            <a:endParaRPr lang="en-US" sz="727" dirty="0"/>
          </a:p>
        </p:txBody>
      </p:sp>
      <p:sp>
        <p:nvSpPr>
          <p:cNvPr id="17" name="Text 13"/>
          <p:cNvSpPr/>
          <p:nvPr/>
        </p:nvSpPr>
        <p:spPr>
          <a:xfrm>
            <a:off x="750094" y="3180755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</a:t>
            </a:r>
            <a:endParaRPr lang="en-US" sz="683" dirty="0"/>
          </a:p>
        </p:txBody>
      </p:sp>
      <p:sp>
        <p:nvSpPr>
          <p:cNvPr id="18" name="Text 14"/>
          <p:cNvSpPr/>
          <p:nvPr/>
        </p:nvSpPr>
        <p:spPr>
          <a:xfrm>
            <a:off x="928688" y="3187898"/>
            <a:ext cx="179855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Streamlined customer communication and subscription management.</a:t>
            </a:r>
            <a:endParaRPr lang="en-US" sz="727" dirty="0"/>
          </a:p>
        </p:txBody>
      </p:sp>
      <p:sp>
        <p:nvSpPr>
          <p:cNvPr id="19" name="Shape 15"/>
          <p:cNvSpPr/>
          <p:nvPr/>
        </p:nvSpPr>
        <p:spPr>
          <a:xfrm>
            <a:off x="3309928" y="1180505"/>
            <a:ext cx="2524116" cy="34647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6"/>
          <p:cNvSpPr/>
          <p:nvPr/>
        </p:nvSpPr>
        <p:spPr>
          <a:xfrm>
            <a:off x="3309928" y="1180505"/>
            <a:ext cx="2524116" cy="35719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1" name="Shape 17"/>
          <p:cNvSpPr/>
          <p:nvPr/>
        </p:nvSpPr>
        <p:spPr>
          <a:xfrm>
            <a:off x="4357660" y="1394817"/>
            <a:ext cx="428625" cy="428625"/>
          </a:xfrm>
          <a:prstGeom prst="rect">
            <a:avLst/>
          </a:prstGeom>
          <a:solidFill>
            <a:srgbClr val="F4F5F7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956" y="1509117"/>
            <a:ext cx="250031" cy="20002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738469" y="1930598"/>
            <a:ext cx="166703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91E42"/>
                </a:solidFill>
              </a:rPr>
              <a:t>Enhanced Experience</a:t>
            </a:r>
            <a:endParaRPr lang="en-US" sz="1090" dirty="0"/>
          </a:p>
        </p:txBody>
      </p:sp>
      <p:sp>
        <p:nvSpPr>
          <p:cNvPr id="24" name="Text 19"/>
          <p:cNvSpPr/>
          <p:nvPr/>
        </p:nvSpPr>
        <p:spPr>
          <a:xfrm>
            <a:off x="3488522" y="2323505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</a:t>
            </a:r>
            <a:endParaRPr lang="en-US" sz="683" dirty="0"/>
          </a:p>
        </p:txBody>
      </p:sp>
      <p:sp>
        <p:nvSpPr>
          <p:cNvPr id="25" name="Text 20"/>
          <p:cNvSpPr/>
          <p:nvPr/>
        </p:nvSpPr>
        <p:spPr>
          <a:xfrm>
            <a:off x="3667116" y="2330648"/>
            <a:ext cx="10580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One-stop platform for</a:t>
            </a:r>
            <a:endParaRPr lang="en-US" sz="727" dirty="0"/>
          </a:p>
        </p:txBody>
      </p:sp>
      <p:sp>
        <p:nvSpPr>
          <p:cNvPr id="26" name="Text 21"/>
          <p:cNvSpPr/>
          <p:nvPr/>
        </p:nvSpPr>
        <p:spPr>
          <a:xfrm>
            <a:off x="3667116" y="2330648"/>
            <a:ext cx="151492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real-time discovery</a:t>
            </a:r>
            <a:endParaRPr lang="en-US" sz="683" dirty="0"/>
          </a:p>
        </p:txBody>
      </p:sp>
      <p:sp>
        <p:nvSpPr>
          <p:cNvPr id="27" name="Text 22"/>
          <p:cNvSpPr/>
          <p:nvPr/>
        </p:nvSpPr>
        <p:spPr>
          <a:xfrm>
            <a:off x="4140278" y="2480667"/>
            <a:ext cx="108894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and court comparison.</a:t>
            </a:r>
            <a:endParaRPr lang="en-US" sz="727" dirty="0"/>
          </a:p>
        </p:txBody>
      </p:sp>
      <p:sp>
        <p:nvSpPr>
          <p:cNvPr id="28" name="Text 23"/>
          <p:cNvSpPr/>
          <p:nvPr/>
        </p:nvSpPr>
        <p:spPr>
          <a:xfrm>
            <a:off x="3488522" y="2752130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</a:t>
            </a:r>
            <a:endParaRPr lang="en-US" sz="683" dirty="0"/>
          </a:p>
        </p:txBody>
      </p:sp>
      <p:sp>
        <p:nvSpPr>
          <p:cNvPr id="29" name="Text 24"/>
          <p:cNvSpPr/>
          <p:nvPr/>
        </p:nvSpPr>
        <p:spPr>
          <a:xfrm>
            <a:off x="3667116" y="2759273"/>
            <a:ext cx="19132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Convenient booking process with instant mobile confirmations.</a:t>
            </a:r>
            <a:endParaRPr lang="en-US" sz="727" dirty="0"/>
          </a:p>
        </p:txBody>
      </p:sp>
      <p:sp>
        <p:nvSpPr>
          <p:cNvPr id="30" name="Text 25"/>
          <p:cNvSpPr/>
          <p:nvPr/>
        </p:nvSpPr>
        <p:spPr>
          <a:xfrm>
            <a:off x="3488522" y="3180755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</a:t>
            </a:r>
            <a:endParaRPr lang="en-US" sz="683" dirty="0"/>
          </a:p>
        </p:txBody>
      </p:sp>
      <p:sp>
        <p:nvSpPr>
          <p:cNvPr id="31" name="Text 26"/>
          <p:cNvSpPr/>
          <p:nvPr/>
        </p:nvSpPr>
        <p:spPr>
          <a:xfrm>
            <a:off x="3667116" y="3187898"/>
            <a:ext cx="46077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Access to</a:t>
            </a:r>
            <a:endParaRPr lang="en-US" sz="727" dirty="0"/>
          </a:p>
        </p:txBody>
      </p:sp>
      <p:sp>
        <p:nvSpPr>
          <p:cNvPr id="32" name="Text 27"/>
          <p:cNvSpPr/>
          <p:nvPr/>
        </p:nvSpPr>
        <p:spPr>
          <a:xfrm>
            <a:off x="4127888" y="3187898"/>
            <a:ext cx="78991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verified reviews</a:t>
            </a:r>
            <a:endParaRPr lang="en-US" sz="683" dirty="0"/>
          </a:p>
        </p:txBody>
      </p:sp>
      <p:sp>
        <p:nvSpPr>
          <p:cNvPr id="33" name="Text 28"/>
          <p:cNvSpPr/>
          <p:nvPr/>
        </p:nvSpPr>
        <p:spPr>
          <a:xfrm>
            <a:off x="3667116" y="3187898"/>
            <a:ext cx="195878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and proximity-based recommendations.</a:t>
            </a:r>
            <a:endParaRPr lang="en-US" sz="727" dirty="0"/>
          </a:p>
        </p:txBody>
      </p:sp>
      <p:sp>
        <p:nvSpPr>
          <p:cNvPr id="34" name="Shape 29"/>
          <p:cNvSpPr/>
          <p:nvPr/>
        </p:nvSpPr>
        <p:spPr>
          <a:xfrm>
            <a:off x="6048356" y="1180505"/>
            <a:ext cx="2524116" cy="34647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0"/>
          <p:cNvSpPr/>
          <p:nvPr/>
        </p:nvSpPr>
        <p:spPr>
          <a:xfrm>
            <a:off x="6048356" y="1180505"/>
            <a:ext cx="2524116" cy="35719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36" name="Shape 31"/>
          <p:cNvSpPr/>
          <p:nvPr/>
        </p:nvSpPr>
        <p:spPr>
          <a:xfrm>
            <a:off x="7096088" y="1394817"/>
            <a:ext cx="428625" cy="428625"/>
          </a:xfrm>
          <a:prstGeom prst="rect">
            <a:avLst/>
          </a:prstGeom>
          <a:solidFill>
            <a:srgbClr val="F4F5F7"/>
          </a:solidFill>
          <a:ln/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5385" y="1509117"/>
            <a:ext cx="250031" cy="200025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535834" y="1930598"/>
            <a:ext cx="154916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91E42"/>
                </a:solidFill>
              </a:rPr>
              <a:t>Scalable Innovation</a:t>
            </a:r>
            <a:endParaRPr lang="en-US" sz="1090" dirty="0"/>
          </a:p>
        </p:txBody>
      </p:sp>
      <p:sp>
        <p:nvSpPr>
          <p:cNvPr id="39" name="Text 33"/>
          <p:cNvSpPr/>
          <p:nvPr/>
        </p:nvSpPr>
        <p:spPr>
          <a:xfrm>
            <a:off x="6226950" y="2323505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</a:t>
            </a:r>
            <a:endParaRPr lang="en-US" sz="683" dirty="0"/>
          </a:p>
        </p:txBody>
      </p:sp>
      <p:sp>
        <p:nvSpPr>
          <p:cNvPr id="40" name="Text 34"/>
          <p:cNvSpPr/>
          <p:nvPr/>
        </p:nvSpPr>
        <p:spPr>
          <a:xfrm>
            <a:off x="6405544" y="2330648"/>
            <a:ext cx="3560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Robust</a:t>
            </a:r>
            <a:endParaRPr lang="en-US" sz="727" dirty="0"/>
          </a:p>
        </p:txBody>
      </p:sp>
      <p:sp>
        <p:nvSpPr>
          <p:cNvPr id="41" name="Text 35"/>
          <p:cNvSpPr/>
          <p:nvPr/>
        </p:nvSpPr>
        <p:spPr>
          <a:xfrm>
            <a:off x="6761615" y="2330648"/>
            <a:ext cx="8953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multi-tenant SaaS</a:t>
            </a:r>
            <a:endParaRPr lang="en-US" sz="683" dirty="0"/>
          </a:p>
        </p:txBody>
      </p:sp>
      <p:sp>
        <p:nvSpPr>
          <p:cNvPr id="42" name="Text 36"/>
          <p:cNvSpPr/>
          <p:nvPr/>
        </p:nvSpPr>
        <p:spPr>
          <a:xfrm>
            <a:off x="6405544" y="2330648"/>
            <a:ext cx="18654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model ready for commercial expansion.</a:t>
            </a:r>
            <a:endParaRPr lang="en-US" sz="727" dirty="0"/>
          </a:p>
        </p:txBody>
      </p:sp>
      <p:sp>
        <p:nvSpPr>
          <p:cNvPr id="43" name="Text 37"/>
          <p:cNvSpPr/>
          <p:nvPr/>
        </p:nvSpPr>
        <p:spPr>
          <a:xfrm>
            <a:off x="6226950" y="2752130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</a:t>
            </a:r>
            <a:endParaRPr lang="en-US" sz="683" dirty="0"/>
          </a:p>
        </p:txBody>
      </p:sp>
      <p:sp>
        <p:nvSpPr>
          <p:cNvPr id="44" name="Text 38"/>
          <p:cNvSpPr/>
          <p:nvPr/>
        </p:nvSpPr>
        <p:spPr>
          <a:xfrm>
            <a:off x="6405544" y="2759273"/>
            <a:ext cx="125716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AI-driven insights through</a:t>
            </a:r>
            <a:endParaRPr lang="en-US" sz="727" dirty="0"/>
          </a:p>
        </p:txBody>
      </p:sp>
      <p:sp>
        <p:nvSpPr>
          <p:cNvPr id="45" name="Text 39"/>
          <p:cNvSpPr/>
          <p:nvPr/>
        </p:nvSpPr>
        <p:spPr>
          <a:xfrm>
            <a:off x="6405544" y="2759273"/>
            <a:ext cx="17720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sentiment analysis</a:t>
            </a:r>
            <a:endParaRPr lang="en-US" sz="683" dirty="0"/>
          </a:p>
        </p:txBody>
      </p:sp>
      <p:sp>
        <p:nvSpPr>
          <p:cNvPr id="46" name="Text 40"/>
          <p:cNvSpPr/>
          <p:nvPr/>
        </p:nvSpPr>
        <p:spPr>
          <a:xfrm>
            <a:off x="6809417" y="2909292"/>
            <a:ext cx="83492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of user feedback.</a:t>
            </a:r>
            <a:endParaRPr lang="en-US" sz="727" dirty="0"/>
          </a:p>
        </p:txBody>
      </p:sp>
      <p:sp>
        <p:nvSpPr>
          <p:cNvPr id="47" name="Text 41"/>
          <p:cNvSpPr/>
          <p:nvPr/>
        </p:nvSpPr>
        <p:spPr>
          <a:xfrm>
            <a:off x="6226950" y="3180755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</a:t>
            </a:r>
            <a:endParaRPr lang="en-US" sz="683" dirty="0"/>
          </a:p>
        </p:txBody>
      </p:sp>
      <p:sp>
        <p:nvSpPr>
          <p:cNvPr id="48" name="Text 42"/>
          <p:cNvSpPr/>
          <p:nvPr/>
        </p:nvSpPr>
        <p:spPr>
          <a:xfrm>
            <a:off x="6405544" y="3187898"/>
            <a:ext cx="189624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2526E"/>
                </a:solidFill>
              </a:rPr>
              <a:t>Secure, high-performance infrastructure for nationwide futsal management.</a:t>
            </a:r>
            <a:endParaRPr lang="en-US" sz="727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91E42"/>
                </a:solidFill>
              </a:rPr>
              <a:t>References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109067"/>
            <a:ext cx="3929063" cy="8215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09067"/>
            <a:ext cx="28575" cy="821531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109067"/>
            <a:ext cx="3929063" cy="821531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052CC"/>
                </a:solidFill>
              </a:rPr>
              <a:t>[1]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2526E"/>
                </a:solidFill>
              </a:rPr>
              <a:t> A. N. S. Suhaimi and M. Z. Sahid, </a:t>
            </a:r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91E42"/>
                </a:solidFill>
              </a:rPr>
              <a:t>"A Development of Futsal Court Booking System,"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2526E"/>
                </a:solidFill>
              </a:rPr>
              <a:t> AITCS, 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2526E"/>
                </a:solidFill>
              </a:rPr>
              <a:t>vol. 4, no. 1, 2023.</a:t>
            </a:r>
            <a:endParaRPr lang="en-US" sz="568" dirty="0"/>
          </a:p>
        </p:txBody>
      </p:sp>
      <p:sp>
        <p:nvSpPr>
          <p:cNvPr id="7" name="Shape 4"/>
          <p:cNvSpPr/>
          <p:nvPr/>
        </p:nvSpPr>
        <p:spPr>
          <a:xfrm>
            <a:off x="4643438" y="1109067"/>
            <a:ext cx="3929063" cy="8215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4643438" y="1109067"/>
            <a:ext cx="28575" cy="821531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9" name="Text 6"/>
          <p:cNvSpPr/>
          <p:nvPr/>
        </p:nvSpPr>
        <p:spPr>
          <a:xfrm>
            <a:off x="4643438" y="1109067"/>
            <a:ext cx="3929063" cy="821531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052CC"/>
                </a:solidFill>
              </a:rPr>
              <a:t>[2]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2526E"/>
                </a:solidFill>
              </a:rPr>
              <a:t> Coursera, </a:t>
            </a:r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91E42"/>
                </a:solidFill>
              </a:rPr>
              <a:t>"What is TF-IDF?"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2526E"/>
                </a:solidFill>
              </a:rPr>
              <a:t> [Online]. Available: 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0052CC"/>
                </a:solidFill>
              </a:rPr>
              <a:t>https://www.coursera.org/articles/what-is-tfidf</a:t>
            </a:r>
            <a:pPr algn="l" indent="0" marL="0">
              <a:lnSpc>
                <a:spcPts val="900"/>
              </a:lnSpc>
              <a:buNone/>
            </a:pPr>
            <a:endParaRPr lang="en-US" sz="568" dirty="0"/>
          </a:p>
        </p:txBody>
      </p:sp>
      <p:sp>
        <p:nvSpPr>
          <p:cNvPr id="10" name="Shape 7"/>
          <p:cNvSpPr/>
          <p:nvPr/>
        </p:nvSpPr>
        <p:spPr>
          <a:xfrm>
            <a:off x="571500" y="2073473"/>
            <a:ext cx="3929063" cy="8215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571500" y="2073473"/>
            <a:ext cx="28575" cy="821531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" y="2073473"/>
            <a:ext cx="3929063" cy="821531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052CC"/>
                </a:solidFill>
              </a:rPr>
              <a:t>[3]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2526E"/>
                </a:solidFill>
              </a:rPr>
              <a:t> GeeksforGeeks, </a:t>
            </a:r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91E42"/>
                </a:solidFill>
              </a:rPr>
              <a:t>"Agile SDLC"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2526E"/>
                </a:solidFill>
              </a:rPr>
              <a:t> [Online]. Available: 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0052CC"/>
                </a:solidFill>
              </a:rPr>
              <a:t>https://www.geeksforgeeks.org/agile-sdlc-soft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0052CC"/>
                </a:solidFill>
              </a:rPr>
              <a:t>ware-development-life-cycle/</a:t>
            </a:r>
            <a:pPr algn="l" indent="0" marL="0">
              <a:lnSpc>
                <a:spcPts val="900"/>
              </a:lnSpc>
              <a:buNone/>
            </a:pPr>
            <a:endParaRPr lang="en-US" sz="568" dirty="0"/>
          </a:p>
        </p:txBody>
      </p:sp>
      <p:sp>
        <p:nvSpPr>
          <p:cNvPr id="13" name="Shape 10"/>
          <p:cNvSpPr/>
          <p:nvPr/>
        </p:nvSpPr>
        <p:spPr>
          <a:xfrm>
            <a:off x="4643438" y="2073473"/>
            <a:ext cx="3929063" cy="8215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4643438" y="2073473"/>
            <a:ext cx="28575" cy="821531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5" name="Text 12"/>
          <p:cNvSpPr/>
          <p:nvPr/>
        </p:nvSpPr>
        <p:spPr>
          <a:xfrm>
            <a:off x="4643438" y="2073473"/>
            <a:ext cx="3929063" cy="821531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052CC"/>
                </a:solidFill>
              </a:rPr>
              <a:t>[4]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2526E"/>
                </a:solidFill>
              </a:rPr>
              <a:t> A. Fauzi et al., </a:t>
            </a:r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91E42"/>
                </a:solidFill>
              </a:rPr>
              <a:t>"Explore Business Opportunities in the Sport Industry in Bekasi,"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2526E"/>
                </a:solidFill>
              </a:rPr>
              <a:t> IJESM, vol. 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2526E"/>
                </a:solidFill>
              </a:rPr>
              <a:t>1, no. 2, 2023.</a:t>
            </a:r>
            <a:endParaRPr lang="en-US" sz="568" dirty="0"/>
          </a:p>
        </p:txBody>
      </p:sp>
      <p:sp>
        <p:nvSpPr>
          <p:cNvPr id="16" name="Shape 13"/>
          <p:cNvSpPr/>
          <p:nvPr/>
        </p:nvSpPr>
        <p:spPr>
          <a:xfrm>
            <a:off x="571500" y="3037880"/>
            <a:ext cx="3929063" cy="8215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571500" y="3037880"/>
            <a:ext cx="28575" cy="821531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8" name="Text 15"/>
          <p:cNvSpPr/>
          <p:nvPr/>
        </p:nvSpPr>
        <p:spPr>
          <a:xfrm>
            <a:off x="571500" y="3037880"/>
            <a:ext cx="3929063" cy="821531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052CC"/>
                </a:solidFill>
              </a:rPr>
              <a:t>[5]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2526E"/>
                </a:solidFill>
              </a:rPr>
              <a:t> SportsKey, </a:t>
            </a:r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91E42"/>
                </a:solidFill>
              </a:rPr>
              <a:t>"Sports Facility Booking Software Trends,"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2526E"/>
                </a:solidFill>
              </a:rPr>
              <a:t> 2026. Available: 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0052CC"/>
                </a:solidFill>
              </a:rPr>
              <a:t>https://www.sportskey.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0052CC"/>
                </a:solidFill>
              </a:rPr>
              <a:t>com</a:t>
            </a:r>
            <a:pPr algn="l" indent="0" marL="0">
              <a:lnSpc>
                <a:spcPts val="900"/>
              </a:lnSpc>
              <a:buNone/>
            </a:pPr>
            <a:endParaRPr lang="en-US" sz="568" dirty="0"/>
          </a:p>
        </p:txBody>
      </p:sp>
      <p:sp>
        <p:nvSpPr>
          <p:cNvPr id="19" name="Shape 16"/>
          <p:cNvSpPr/>
          <p:nvPr/>
        </p:nvSpPr>
        <p:spPr>
          <a:xfrm>
            <a:off x="4643438" y="3037880"/>
            <a:ext cx="3929063" cy="8215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4643438" y="3037880"/>
            <a:ext cx="28575" cy="821531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1" name="Text 18"/>
          <p:cNvSpPr/>
          <p:nvPr/>
        </p:nvSpPr>
        <p:spPr>
          <a:xfrm>
            <a:off x="4643438" y="3037880"/>
            <a:ext cx="3929063" cy="821531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052CC"/>
                </a:solidFill>
              </a:rPr>
              <a:t>[6]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2526E"/>
                </a:solidFill>
              </a:rPr>
              <a:t> UiTM, </a:t>
            </a:r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91E42"/>
                </a:solidFill>
              </a:rPr>
              <a:t>"Progressive Web Applications for Mobile-First Systems,"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2526E"/>
                </a:solidFill>
              </a:rPr>
              <a:t> 2024.</a:t>
            </a:r>
            <a:endParaRPr lang="en-US" sz="568" dirty="0"/>
          </a:p>
        </p:txBody>
      </p:sp>
      <p:sp>
        <p:nvSpPr>
          <p:cNvPr id="22" name="Shape 19"/>
          <p:cNvSpPr/>
          <p:nvPr/>
        </p:nvSpPr>
        <p:spPr>
          <a:xfrm>
            <a:off x="571500" y="4002286"/>
            <a:ext cx="3929063" cy="8215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571500" y="4002286"/>
            <a:ext cx="28575" cy="821531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4" name="Text 21"/>
          <p:cNvSpPr/>
          <p:nvPr/>
        </p:nvSpPr>
        <p:spPr>
          <a:xfrm>
            <a:off x="571500" y="4002286"/>
            <a:ext cx="3929063" cy="821531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052CC"/>
                </a:solidFill>
              </a:rPr>
              <a:t>[7]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2526E"/>
                </a:solidFill>
              </a:rPr>
              <a:t> S. Nagar et al., </a:t>
            </a:r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91E42"/>
                </a:solidFill>
              </a:rPr>
              <a:t>"Logistic Regression Based Approach for Human Sentiment Analysis,"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2526E"/>
                </a:solidFill>
              </a:rPr>
              <a:t> ACROSET, 2024.</a:t>
            </a:r>
            <a:endParaRPr lang="en-US" sz="568" dirty="0"/>
          </a:p>
        </p:txBody>
      </p:sp>
      <p:sp>
        <p:nvSpPr>
          <p:cNvPr id="25" name="Shape 22"/>
          <p:cNvSpPr/>
          <p:nvPr/>
        </p:nvSpPr>
        <p:spPr>
          <a:xfrm>
            <a:off x="4643438" y="4002286"/>
            <a:ext cx="3929063" cy="8215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3"/>
          <p:cNvSpPr/>
          <p:nvPr/>
        </p:nvSpPr>
        <p:spPr>
          <a:xfrm>
            <a:off x="4643438" y="4002286"/>
            <a:ext cx="28575" cy="821531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7" name="Text 24"/>
          <p:cNvSpPr/>
          <p:nvPr/>
        </p:nvSpPr>
        <p:spPr>
          <a:xfrm>
            <a:off x="4643438" y="4002286"/>
            <a:ext cx="3929063" cy="821531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052CC"/>
                </a:solidFill>
              </a:rPr>
              <a:t>[8]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2526E"/>
                </a:solidFill>
              </a:rPr>
              <a:t> IBM, </a:t>
            </a:r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91E42"/>
                </a:solidFill>
              </a:rPr>
              <a:t>"What is multi-tenant architecture?"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2526E"/>
                </a:solidFill>
              </a:rPr>
              <a:t> Available: 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0052CC"/>
                </a:solidFill>
              </a:rPr>
              <a:t>https://www.ibm.com/think/topics/multi-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0052CC"/>
                </a:solidFill>
              </a:rPr>
              <a:t>tenant</a:t>
            </a:r>
            <a:pPr algn="l" indent="0" marL="0">
              <a:lnSpc>
                <a:spcPts val="900"/>
              </a:lnSpc>
              <a:buNone/>
            </a:pPr>
            <a:endParaRPr lang="en-US" sz="568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857250"/>
            <a:ext cx="7858125" cy="342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857250"/>
            <a:ext cx="4653428" cy="3429000"/>
          </a:xfrm>
          <a:prstGeom prst="rect">
            <a:avLst/>
          </a:prstGeom>
          <a:solidFill>
            <a:srgbClr val="091E42"/>
          </a:solidFill>
          <a:ln/>
        </p:spPr>
      </p:sp>
      <p:sp>
        <p:nvSpPr>
          <p:cNvPr id="5" name="Text 2"/>
          <p:cNvSpPr/>
          <p:nvPr/>
        </p:nvSpPr>
        <p:spPr>
          <a:xfrm>
            <a:off x="1071563" y="2515632"/>
            <a:ext cx="3939053" cy="5657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731" b="1" dirty="0">
                <a:solidFill>
                  <a:srgbClr val="FFFFFF"/>
                </a:solidFill>
              </a:rPr>
              <a:t>Thank You!</a:t>
            </a:r>
            <a:endParaRPr lang="en-US" sz="3731" dirty="0"/>
          </a:p>
        </p:txBody>
      </p:sp>
      <p:sp>
        <p:nvSpPr>
          <p:cNvPr id="6" name="Text 3"/>
          <p:cNvSpPr/>
          <p:nvPr/>
        </p:nvSpPr>
        <p:spPr>
          <a:xfrm>
            <a:off x="1071563" y="3167137"/>
            <a:ext cx="393905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>
                    <a:alpha val="80000"/>
                  </a:srgbClr>
                </a:solidFill>
              </a:rPr>
              <a:t>Futsal Booking and Management System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589259" y="1143000"/>
            <a:ext cx="2626054" cy="348258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8" name="Text 5"/>
          <p:cNvSpPr/>
          <p:nvPr/>
        </p:nvSpPr>
        <p:spPr>
          <a:xfrm>
            <a:off x="5589259" y="1143000"/>
            <a:ext cx="2626054" cy="348258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2526E"/>
                </a:solidFill>
              </a:rPr>
              <a:t>QUESTIONS?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589259" y="1777008"/>
            <a:ext cx="262605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Project Team</a:t>
            </a:r>
            <a:endParaRPr lang="en-US" sz="683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259" y="2014538"/>
            <a:ext cx="100013" cy="1143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74996" y="1984177"/>
            <a:ext cx="77294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91E42"/>
                </a:solidFill>
              </a:rPr>
              <a:t>Aashish Rijal</a:t>
            </a:r>
            <a:endParaRPr lang="en-US" sz="885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259" y="2275284"/>
            <a:ext cx="100013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774996" y="2244923"/>
            <a:ext cx="104209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91E42"/>
                </a:solidFill>
              </a:rPr>
              <a:t>Kedar Dhungana</a:t>
            </a:r>
            <a:endParaRPr lang="en-US" sz="885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9259" y="2536031"/>
            <a:ext cx="100013" cy="1143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774996" y="2505670"/>
            <a:ext cx="96532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91E42"/>
                </a:solidFill>
              </a:rPr>
              <a:t>Dipesh Devkota</a:t>
            </a:r>
            <a:endParaRPr lang="en-US" sz="885" dirty="0"/>
          </a:p>
        </p:txBody>
      </p:sp>
      <p:sp>
        <p:nvSpPr>
          <p:cNvPr id="16" name="Text 10"/>
          <p:cNvSpPr/>
          <p:nvPr/>
        </p:nvSpPr>
        <p:spPr>
          <a:xfrm>
            <a:off x="5589259" y="3943350"/>
            <a:ext cx="262605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Supervisor</a:t>
            </a:r>
            <a:endParaRPr lang="en-US" sz="683" dirty="0"/>
          </a:p>
        </p:txBody>
      </p:sp>
      <p:sp>
        <p:nvSpPr>
          <p:cNvPr id="17" name="Text 11"/>
          <p:cNvSpPr/>
          <p:nvPr/>
        </p:nvSpPr>
        <p:spPr>
          <a:xfrm>
            <a:off x="5589259" y="4150519"/>
            <a:ext cx="262605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91E42"/>
                </a:solidFill>
              </a:rPr>
              <a:t>Mr. Surya Bam</a:t>
            </a:r>
            <a:endParaRPr lang="en-US" sz="68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2026-02-23T12:21:56Z</dcterms:created>
  <dcterms:modified xsi:type="dcterms:W3CDTF">2026-02-23T12:21:56Z</dcterms:modified>
</cp:coreProperties>
</file>